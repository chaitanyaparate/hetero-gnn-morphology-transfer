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rimson Pro Bold" charset="1" panose="00000000000000000000"/>
      <p:regular r:id="rId16"/>
    </p:embeddedFont>
    <p:embeddedFont>
      <p:font typeface="Open Sans" charset="1" panose="00000000000000000000"/>
      <p:regular r:id="rId17"/>
    </p:embeddedFont>
    <p:embeddedFont>
      <p:font typeface="Open Sans Bold" charset="1" panose="00000000000000000000"/>
      <p:regular r:id="rId18"/>
    </p:embeddedFont>
    <p:embeddedFont>
      <p:font typeface="Open Sans Italics" charset="1" panose="00000000000000000000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0238" y="2498227"/>
            <a:ext cx="9445523" cy="359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Relational Bias for Morphological Generalization in Robotic Control Using Graph Neural Networks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6429223"/>
            <a:ext cx="9445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B.Tech Seminar · School of Computer Science &amp; Engineering, MIT-WPU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7201795"/>
            <a:ext cx="9445523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Chaitanya Parate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· PRN: 1032230750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83739" y="752027"/>
            <a:ext cx="2233165" cy="456905"/>
            <a:chOff x="0" y="0"/>
            <a:chExt cx="2977553" cy="6092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7642" cy="609219"/>
            </a:xfrm>
            <a:custGeom>
              <a:avLst/>
              <a:gdLst/>
              <a:ahLst/>
              <a:cxnLst/>
              <a:rect r="r" b="b" t="t" l="l"/>
              <a:pathLst>
                <a:path h="609219" w="2977642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lnTo>
                    <a:pt x="2864485" y="0"/>
                  </a:lnTo>
                  <a:cubicBezTo>
                    <a:pt x="2926969" y="0"/>
                    <a:pt x="2977642" y="50673"/>
                    <a:pt x="2977642" y="113157"/>
                  </a:cubicBezTo>
                  <a:lnTo>
                    <a:pt x="2977642" y="496062"/>
                  </a:lnTo>
                  <a:cubicBezTo>
                    <a:pt x="2977642" y="558546"/>
                    <a:pt x="2926969" y="609219"/>
                    <a:pt x="2864485" y="609219"/>
                  </a:cubicBezTo>
                  <a:lnTo>
                    <a:pt x="113157" y="609219"/>
                  </a:lnTo>
                  <a:cubicBezTo>
                    <a:pt x="50673" y="609219"/>
                    <a:pt x="0" y="558546"/>
                    <a:pt x="0" y="496062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35253" y="780155"/>
            <a:ext cx="1930156" cy="353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CORE 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739" y="1270244"/>
            <a:ext cx="12529395" cy="81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"Rigidity" Problem: Why MLP Policies Fail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3739" y="2998584"/>
            <a:ext cx="10522591" cy="5962802"/>
            <a:chOff x="0" y="0"/>
            <a:chExt cx="14030122" cy="795040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030071" cy="7950454"/>
            </a:xfrm>
            <a:custGeom>
              <a:avLst/>
              <a:gdLst/>
              <a:ahLst/>
              <a:cxnLst/>
              <a:rect r="r" b="b" t="t" l="l"/>
              <a:pathLst>
                <a:path h="7950454" w="14030071">
                  <a:moveTo>
                    <a:pt x="0" y="0"/>
                  </a:moveTo>
                  <a:lnTo>
                    <a:pt x="14030071" y="0"/>
                  </a:lnTo>
                  <a:lnTo>
                    <a:pt x="14030071" y="7950454"/>
                  </a:lnTo>
                  <a:lnTo>
                    <a:pt x="0" y="7950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32009" y="2551357"/>
            <a:ext cx="5381625" cy="122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Traditional MLP policies flatten the robot's state into a </a:t>
            </a:r>
            <a:r>
              <a:rPr lang="en-US" sz="193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fixed-size vector</a:t>
            </a: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 This creates a hard architectural lock: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2009" y="3899449"/>
            <a:ext cx="5381625" cy="336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12-joint quadruped policy </a:t>
            </a:r>
            <a:r>
              <a:rPr lang="en-US" b="true" sz="1937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cannot</a:t>
            </a: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control an 18-joint hexapod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Every new morphology demands </a:t>
            </a:r>
            <a:r>
              <a:rPr lang="en-US" b="true" sz="1937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 retraining from scratch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MLPs are </a:t>
            </a:r>
            <a:r>
              <a:rPr lang="en-US" b="true" sz="1937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blind to kinematic structure</a:t>
            </a: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— they see joints as independent scalars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No weight-sharing across symmetric limbs → </a:t>
            </a:r>
            <a:r>
              <a:rPr lang="en-US" b="true" sz="1937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parameter bloat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32009" y="7519540"/>
            <a:ext cx="5381625" cy="1762277"/>
            <a:chOff x="0" y="0"/>
            <a:chExt cx="7175500" cy="23497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75500" cy="2349627"/>
            </a:xfrm>
            <a:custGeom>
              <a:avLst/>
              <a:gdLst/>
              <a:ahLst/>
              <a:cxnLst/>
              <a:rect r="r" b="b" t="t" l="l"/>
              <a:pathLst>
                <a:path h="2349627" w="7175500">
                  <a:moveTo>
                    <a:pt x="0" y="141351"/>
                  </a:moveTo>
                  <a:cubicBezTo>
                    <a:pt x="0" y="63246"/>
                    <a:pt x="63246" y="0"/>
                    <a:pt x="141351" y="0"/>
                  </a:cubicBezTo>
                  <a:lnTo>
                    <a:pt x="7034149" y="0"/>
                  </a:lnTo>
                  <a:cubicBezTo>
                    <a:pt x="7112254" y="0"/>
                    <a:pt x="7175500" y="63246"/>
                    <a:pt x="7175500" y="141351"/>
                  </a:cubicBezTo>
                  <a:lnTo>
                    <a:pt x="7175500" y="2208276"/>
                  </a:lnTo>
                  <a:cubicBezTo>
                    <a:pt x="7175500" y="2286381"/>
                    <a:pt x="7112254" y="2349627"/>
                    <a:pt x="7034149" y="2349627"/>
                  </a:cubicBezTo>
                  <a:lnTo>
                    <a:pt x="141351" y="2349627"/>
                  </a:lnTo>
                  <a:cubicBezTo>
                    <a:pt x="63246" y="2349754"/>
                    <a:pt x="0" y="2286381"/>
                    <a:pt x="0" y="2208276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84421" y="7899949"/>
            <a:ext cx="315516" cy="252412"/>
            <a:chOff x="0" y="0"/>
            <a:chExt cx="420688" cy="33655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20751" cy="336550"/>
            </a:xfrm>
            <a:custGeom>
              <a:avLst/>
              <a:gdLst/>
              <a:ahLst/>
              <a:cxnLst/>
              <a:rect r="r" b="b" t="t" l="l"/>
              <a:pathLst>
                <a:path h="336550" w="420751">
                  <a:moveTo>
                    <a:pt x="0" y="0"/>
                  </a:moveTo>
                  <a:lnTo>
                    <a:pt x="420751" y="0"/>
                  </a:lnTo>
                  <a:lnTo>
                    <a:pt x="420751" y="336550"/>
                  </a:lnTo>
                  <a:lnTo>
                    <a:pt x="0" y="33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5" r="15" b="-113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2349" y="7731328"/>
            <a:ext cx="4308872" cy="122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MLP policies are morphology-locked. They learn </a:t>
            </a:r>
            <a:r>
              <a:rPr lang="en-US" sz="1937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one</a:t>
            </a:r>
            <a:r>
              <a:rPr lang="en-US" sz="19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robot, not </a:t>
            </a:r>
            <a:r>
              <a:rPr lang="en-US" sz="1937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locomotion</a:t>
            </a:r>
            <a:r>
              <a:rPr lang="en-US" sz="19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704680"/>
            <a:ext cx="2616841" cy="532809"/>
            <a:chOff x="0" y="0"/>
            <a:chExt cx="3489122" cy="710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9071" cy="710438"/>
            </a:xfrm>
            <a:custGeom>
              <a:avLst/>
              <a:gdLst/>
              <a:ahLst/>
              <a:cxnLst/>
              <a:rect r="r" b="b" t="t" l="l"/>
              <a:pathLst>
                <a:path h="710438" w="348907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62071" y="0"/>
                  </a:lnTo>
                  <a:cubicBezTo>
                    <a:pt x="3432175" y="0"/>
                    <a:pt x="3489071" y="56896"/>
                    <a:pt x="3489071" y="127000"/>
                  </a:cubicBezTo>
                  <a:lnTo>
                    <a:pt x="3489071" y="583438"/>
                  </a:lnTo>
                  <a:cubicBezTo>
                    <a:pt x="3489071" y="653542"/>
                    <a:pt x="3432175" y="710438"/>
                    <a:pt x="3362071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1722987"/>
            <a:ext cx="2276627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BREAKTHROUGH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303259"/>
            <a:ext cx="15535866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Morphological Inductive Bias: The Robot as a Graph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576342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Instead of a flat vector, we encode the robot as a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Graph G = (V, E)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— preserving its physical structure as a first-class input.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7476" y="4429868"/>
            <a:ext cx="5254971" cy="4157215"/>
            <a:chOff x="0" y="0"/>
            <a:chExt cx="7006628" cy="55429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6993890" cy="5530215"/>
            </a:xfrm>
            <a:custGeom>
              <a:avLst/>
              <a:gdLst/>
              <a:ahLst/>
              <a:cxnLst/>
              <a:rect r="r" b="b" t="t" l="l"/>
              <a:pathLst>
                <a:path h="5530215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140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371465"/>
                  </a:lnTo>
                  <a:cubicBezTo>
                    <a:pt x="6993890" y="5459095"/>
                    <a:pt x="6922770" y="5530215"/>
                    <a:pt x="6835013" y="5530215"/>
                  </a:cubicBezTo>
                  <a:lnTo>
                    <a:pt x="158877" y="5530215"/>
                  </a:lnTo>
                  <a:cubicBezTo>
                    <a:pt x="71120" y="5530215"/>
                    <a:pt x="0" y="5459222"/>
                    <a:pt x="0" y="5371465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06717" cy="5542915"/>
            </a:xfrm>
            <a:custGeom>
              <a:avLst/>
              <a:gdLst/>
              <a:ahLst/>
              <a:cxnLst/>
              <a:rect r="r" b="b" t="t" l="l"/>
              <a:pathLst>
                <a:path h="5542915" w="7006717">
                  <a:moveTo>
                    <a:pt x="0" y="165100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841490" y="0"/>
                  </a:lnTo>
                  <a:lnTo>
                    <a:pt x="6841490" y="6350"/>
                  </a:lnTo>
                  <a:lnTo>
                    <a:pt x="6841490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5377815"/>
                  </a:lnTo>
                  <a:lnTo>
                    <a:pt x="7000367" y="5377815"/>
                  </a:lnTo>
                  <a:lnTo>
                    <a:pt x="7006717" y="5377815"/>
                  </a:lnTo>
                  <a:cubicBezTo>
                    <a:pt x="7006717" y="5469001"/>
                    <a:pt x="6932803" y="5542915"/>
                    <a:pt x="6841490" y="5542915"/>
                  </a:cubicBezTo>
                  <a:lnTo>
                    <a:pt x="6841490" y="5536565"/>
                  </a:lnTo>
                  <a:lnTo>
                    <a:pt x="6841490" y="5542915"/>
                  </a:lnTo>
                  <a:lnTo>
                    <a:pt x="165227" y="5542915"/>
                  </a:lnTo>
                  <a:lnTo>
                    <a:pt x="165227" y="5536565"/>
                  </a:lnTo>
                  <a:lnTo>
                    <a:pt x="165227" y="5542915"/>
                  </a:lnTo>
                  <a:cubicBezTo>
                    <a:pt x="74041" y="5542915"/>
                    <a:pt x="0" y="5469001"/>
                    <a:pt x="0" y="53778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77815"/>
                  </a:lnTo>
                  <a:lnTo>
                    <a:pt x="6350" y="5377815"/>
                  </a:lnTo>
                  <a:lnTo>
                    <a:pt x="12700" y="5377815"/>
                  </a:lnTo>
                  <a:cubicBezTo>
                    <a:pt x="12700" y="5462016"/>
                    <a:pt x="81026" y="5530215"/>
                    <a:pt x="165227" y="5530215"/>
                  </a:cubicBezTo>
                  <a:lnTo>
                    <a:pt x="6841490" y="5530215"/>
                  </a:lnTo>
                  <a:cubicBezTo>
                    <a:pt x="6925691" y="5530215"/>
                    <a:pt x="6994017" y="5462016"/>
                    <a:pt x="6994017" y="5377815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490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5284" y="4727677"/>
            <a:ext cx="850554" cy="850554"/>
            <a:chOff x="0" y="0"/>
            <a:chExt cx="1134072" cy="1134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1519238" y="496148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659" t="0" r="-365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5284" y="583316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Nodes (V)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284" y="6389046"/>
            <a:ext cx="465936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Each joint — HAA, HFE, KFE — becomes a typed node with proprioceptive state (angle, velocity, torque).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16443" y="4429868"/>
            <a:ext cx="5254971" cy="4157215"/>
            <a:chOff x="0" y="0"/>
            <a:chExt cx="7006628" cy="55429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6993890" cy="5530215"/>
            </a:xfrm>
            <a:custGeom>
              <a:avLst/>
              <a:gdLst/>
              <a:ahLst/>
              <a:cxnLst/>
              <a:rect r="r" b="b" t="t" l="l"/>
              <a:pathLst>
                <a:path h="5530215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140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371465"/>
                  </a:lnTo>
                  <a:cubicBezTo>
                    <a:pt x="6993890" y="5459095"/>
                    <a:pt x="6922770" y="5530215"/>
                    <a:pt x="6835013" y="5530215"/>
                  </a:cubicBezTo>
                  <a:lnTo>
                    <a:pt x="158877" y="5530215"/>
                  </a:lnTo>
                  <a:cubicBezTo>
                    <a:pt x="71120" y="5530215"/>
                    <a:pt x="0" y="5459222"/>
                    <a:pt x="0" y="5371465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06717" cy="5542915"/>
            </a:xfrm>
            <a:custGeom>
              <a:avLst/>
              <a:gdLst/>
              <a:ahLst/>
              <a:cxnLst/>
              <a:rect r="r" b="b" t="t" l="l"/>
              <a:pathLst>
                <a:path h="5542915" w="7006717">
                  <a:moveTo>
                    <a:pt x="0" y="165100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841490" y="0"/>
                  </a:lnTo>
                  <a:lnTo>
                    <a:pt x="6841490" y="6350"/>
                  </a:lnTo>
                  <a:lnTo>
                    <a:pt x="6841490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5377815"/>
                  </a:lnTo>
                  <a:lnTo>
                    <a:pt x="7000367" y="5377815"/>
                  </a:lnTo>
                  <a:lnTo>
                    <a:pt x="7006717" y="5377815"/>
                  </a:lnTo>
                  <a:cubicBezTo>
                    <a:pt x="7006717" y="5469001"/>
                    <a:pt x="6932803" y="5542915"/>
                    <a:pt x="6841490" y="5542915"/>
                  </a:cubicBezTo>
                  <a:lnTo>
                    <a:pt x="6841490" y="5536565"/>
                  </a:lnTo>
                  <a:lnTo>
                    <a:pt x="6841490" y="5542915"/>
                  </a:lnTo>
                  <a:lnTo>
                    <a:pt x="165227" y="5542915"/>
                  </a:lnTo>
                  <a:lnTo>
                    <a:pt x="165227" y="5536565"/>
                  </a:lnTo>
                  <a:lnTo>
                    <a:pt x="165227" y="5542915"/>
                  </a:lnTo>
                  <a:cubicBezTo>
                    <a:pt x="74041" y="5542915"/>
                    <a:pt x="0" y="5469001"/>
                    <a:pt x="0" y="53778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77815"/>
                  </a:lnTo>
                  <a:lnTo>
                    <a:pt x="6350" y="5377815"/>
                  </a:lnTo>
                  <a:lnTo>
                    <a:pt x="12700" y="5377815"/>
                  </a:lnTo>
                  <a:cubicBezTo>
                    <a:pt x="12700" y="5462016"/>
                    <a:pt x="81026" y="5530215"/>
                    <a:pt x="165227" y="5530215"/>
                  </a:cubicBezTo>
                  <a:lnTo>
                    <a:pt x="6841490" y="5530215"/>
                  </a:lnTo>
                  <a:cubicBezTo>
                    <a:pt x="6925691" y="5530215"/>
                    <a:pt x="6994017" y="5462016"/>
                    <a:pt x="6994017" y="5377815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490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14242" y="4727677"/>
            <a:ext cx="850554" cy="850554"/>
            <a:chOff x="0" y="0"/>
            <a:chExt cx="1134072" cy="11340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7048205" y="496148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6814242" y="583316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Edges (E)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14242" y="6389046"/>
            <a:ext cx="465936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Kinematic links between joints encode physical adjacency and force propagation pathways.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45401" y="4429868"/>
            <a:ext cx="5254971" cy="4157215"/>
            <a:chOff x="0" y="0"/>
            <a:chExt cx="7006628" cy="55429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6993890" cy="5530215"/>
            </a:xfrm>
            <a:custGeom>
              <a:avLst/>
              <a:gdLst/>
              <a:ahLst/>
              <a:cxnLst/>
              <a:rect r="r" b="b" t="t" l="l"/>
              <a:pathLst>
                <a:path h="5530215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140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371465"/>
                  </a:lnTo>
                  <a:cubicBezTo>
                    <a:pt x="6993890" y="5459095"/>
                    <a:pt x="6922770" y="5530215"/>
                    <a:pt x="6835013" y="5530215"/>
                  </a:cubicBezTo>
                  <a:lnTo>
                    <a:pt x="158877" y="5530215"/>
                  </a:lnTo>
                  <a:cubicBezTo>
                    <a:pt x="71120" y="5530215"/>
                    <a:pt x="0" y="5459222"/>
                    <a:pt x="0" y="5371465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06717" cy="5542915"/>
            </a:xfrm>
            <a:custGeom>
              <a:avLst/>
              <a:gdLst/>
              <a:ahLst/>
              <a:cxnLst/>
              <a:rect r="r" b="b" t="t" l="l"/>
              <a:pathLst>
                <a:path h="5542915" w="7006717">
                  <a:moveTo>
                    <a:pt x="0" y="165100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6841490" y="0"/>
                  </a:lnTo>
                  <a:lnTo>
                    <a:pt x="6841490" y="6350"/>
                  </a:lnTo>
                  <a:lnTo>
                    <a:pt x="6841490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5377815"/>
                  </a:lnTo>
                  <a:lnTo>
                    <a:pt x="7000367" y="5377815"/>
                  </a:lnTo>
                  <a:lnTo>
                    <a:pt x="7006717" y="5377815"/>
                  </a:lnTo>
                  <a:cubicBezTo>
                    <a:pt x="7006717" y="5469001"/>
                    <a:pt x="6932803" y="5542915"/>
                    <a:pt x="6841490" y="5542915"/>
                  </a:cubicBezTo>
                  <a:lnTo>
                    <a:pt x="6841490" y="5536565"/>
                  </a:lnTo>
                  <a:lnTo>
                    <a:pt x="6841490" y="5542915"/>
                  </a:lnTo>
                  <a:lnTo>
                    <a:pt x="165227" y="5542915"/>
                  </a:lnTo>
                  <a:lnTo>
                    <a:pt x="165227" y="5536565"/>
                  </a:lnTo>
                  <a:lnTo>
                    <a:pt x="165227" y="5542915"/>
                  </a:lnTo>
                  <a:cubicBezTo>
                    <a:pt x="74041" y="5542915"/>
                    <a:pt x="0" y="5469001"/>
                    <a:pt x="0" y="537781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377815"/>
                  </a:lnTo>
                  <a:lnTo>
                    <a:pt x="6350" y="5377815"/>
                  </a:lnTo>
                  <a:lnTo>
                    <a:pt x="12700" y="5377815"/>
                  </a:lnTo>
                  <a:cubicBezTo>
                    <a:pt x="12700" y="5462016"/>
                    <a:pt x="81026" y="5530215"/>
                    <a:pt x="165227" y="5530215"/>
                  </a:cubicBezTo>
                  <a:lnTo>
                    <a:pt x="6841490" y="5530215"/>
                  </a:lnTo>
                  <a:cubicBezTo>
                    <a:pt x="6925691" y="5530215"/>
                    <a:pt x="6994017" y="5462016"/>
                    <a:pt x="6994017" y="5377815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490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3209" y="4727677"/>
            <a:ext cx="850554" cy="850554"/>
            <a:chOff x="0" y="0"/>
            <a:chExt cx="1134072" cy="11340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12577172" y="496148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659" t="0" r="-3656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343209" y="583316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Relational Bias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43209" y="6389046"/>
            <a:ext cx="465936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GNN learns </a:t>
            </a:r>
            <a:r>
              <a:rPr lang="en-US" sz="2187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how joints relate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, not just what they are — enabling cross-morphology generalization.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60359" y="651720"/>
            <a:ext cx="2081212" cy="355702"/>
            <a:chOff x="0" y="0"/>
            <a:chExt cx="2774950" cy="4742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74950" cy="474345"/>
            </a:xfrm>
            <a:custGeom>
              <a:avLst/>
              <a:gdLst/>
              <a:ahLst/>
              <a:cxnLst/>
              <a:rect r="r" b="b" t="t" l="l"/>
              <a:pathLst>
                <a:path h="474345" w="2774950">
                  <a:moveTo>
                    <a:pt x="0" y="93345"/>
                  </a:moveTo>
                  <a:cubicBezTo>
                    <a:pt x="0" y="41783"/>
                    <a:pt x="41783" y="0"/>
                    <a:pt x="93345" y="0"/>
                  </a:cubicBezTo>
                  <a:lnTo>
                    <a:pt x="2681605" y="0"/>
                  </a:lnTo>
                  <a:cubicBezTo>
                    <a:pt x="2733167" y="0"/>
                    <a:pt x="2774950" y="41783"/>
                    <a:pt x="2774950" y="93345"/>
                  </a:cubicBezTo>
                  <a:lnTo>
                    <a:pt x="2774950" y="381000"/>
                  </a:lnTo>
                  <a:cubicBezTo>
                    <a:pt x="2774950" y="432562"/>
                    <a:pt x="2733167" y="474345"/>
                    <a:pt x="2681605" y="474345"/>
                  </a:cubicBezTo>
                  <a:lnTo>
                    <a:pt x="93345" y="474345"/>
                  </a:lnTo>
                  <a:cubicBezTo>
                    <a:pt x="41783" y="474218"/>
                    <a:pt x="0" y="432562"/>
                    <a:pt x="0" y="38100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85232" y="675980"/>
            <a:ext cx="1831477" cy="2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24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0359" y="1039863"/>
            <a:ext cx="8863460" cy="67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SlimHeteroGNN: Architecture Deep Dive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24720" y="1948453"/>
            <a:ext cx="8438255" cy="5008064"/>
            <a:chOff x="0" y="0"/>
            <a:chExt cx="11251006" cy="6677419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251057" cy="6677406"/>
            </a:xfrm>
            <a:custGeom>
              <a:avLst/>
              <a:gdLst/>
              <a:ahLst/>
              <a:cxnLst/>
              <a:rect r="r" b="b" t="t" l="l"/>
              <a:pathLst>
                <a:path h="6677406" w="11251057">
                  <a:moveTo>
                    <a:pt x="0" y="0"/>
                  </a:moveTo>
                  <a:lnTo>
                    <a:pt x="11251057" y="0"/>
                  </a:lnTo>
                  <a:lnTo>
                    <a:pt x="11251057" y="6677406"/>
                  </a:lnTo>
                  <a:lnTo>
                    <a:pt x="0" y="6677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" r="0" b="-15"/>
              </a:stretch>
            </a:blip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1437839" y="3172511"/>
            <a:ext cx="718328" cy="718328"/>
          </a:xfrm>
          <a:custGeom>
            <a:avLst/>
            <a:gdLst/>
            <a:ahLst/>
            <a:cxnLst/>
            <a:rect r="r" b="b" t="t" l="l"/>
            <a:pathLst>
              <a:path h="718328" w="718328">
                <a:moveTo>
                  <a:pt x="0" y="0"/>
                </a:moveTo>
                <a:lnTo>
                  <a:pt x="718328" y="0"/>
                </a:lnTo>
                <a:lnTo>
                  <a:pt x="718328" y="718328"/>
                </a:lnTo>
                <a:lnTo>
                  <a:pt x="0" y="7183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97854" y="5573792"/>
            <a:ext cx="2097529" cy="82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Policy Head Output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8808072" y="3173863"/>
            <a:ext cx="718328" cy="718328"/>
          </a:xfrm>
          <a:custGeom>
            <a:avLst/>
            <a:gdLst/>
            <a:ahLst/>
            <a:cxnLst/>
            <a:rect r="r" b="b" t="t" l="l"/>
            <a:pathLst>
              <a:path h="718328" w="718328">
                <a:moveTo>
                  <a:pt x="0" y="0"/>
                </a:moveTo>
                <a:lnTo>
                  <a:pt x="718328" y="0"/>
                </a:lnTo>
                <a:lnTo>
                  <a:pt x="718328" y="718328"/>
                </a:lnTo>
                <a:lnTo>
                  <a:pt x="0" y="7183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73" r="0" b="-197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154391" y="5371767"/>
            <a:ext cx="2097529" cy="123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GATv2 Message Passing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6164609" y="3173863"/>
            <a:ext cx="718328" cy="718328"/>
          </a:xfrm>
          <a:custGeom>
            <a:avLst/>
            <a:gdLst/>
            <a:ahLst/>
            <a:cxnLst/>
            <a:rect r="r" b="b" t="t" l="l"/>
            <a:pathLst>
              <a:path h="718328" w="718328">
                <a:moveTo>
                  <a:pt x="0" y="0"/>
                </a:moveTo>
                <a:lnTo>
                  <a:pt x="718327" y="0"/>
                </a:lnTo>
                <a:lnTo>
                  <a:pt x="718327" y="718328"/>
                </a:lnTo>
                <a:lnTo>
                  <a:pt x="0" y="7183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57" t="0" r="-659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467826" y="5573792"/>
            <a:ext cx="2097529" cy="82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Heterogeneous Encoding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60359" y="7099849"/>
            <a:ext cx="14367119" cy="6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SlimHeteroGNN pipeline processes proprioceptive inputs through three stages — heterogeneous encoding, dynamic attention-based message passing, and policy head output — to generate torque commands for each joint.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946072" y="7863783"/>
            <a:ext cx="4715618" cy="1785785"/>
            <a:chOff x="0" y="0"/>
            <a:chExt cx="6287491" cy="238104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6249416" cy="2342896"/>
            </a:xfrm>
            <a:custGeom>
              <a:avLst/>
              <a:gdLst/>
              <a:ahLst/>
              <a:cxnLst/>
              <a:rect r="r" b="b" t="t" l="l"/>
              <a:pathLst>
                <a:path h="2342896" w="6249416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064631" y="0"/>
                  </a:lnTo>
                  <a:cubicBezTo>
                    <a:pt x="6166612" y="0"/>
                    <a:pt x="6249416" y="81915"/>
                    <a:pt x="6249416" y="182880"/>
                  </a:cubicBezTo>
                  <a:lnTo>
                    <a:pt x="6249416" y="2160016"/>
                  </a:lnTo>
                  <a:cubicBezTo>
                    <a:pt x="6249416" y="2260981"/>
                    <a:pt x="6166739" y="2342896"/>
                    <a:pt x="6064631" y="2342896"/>
                  </a:cubicBezTo>
                  <a:lnTo>
                    <a:pt x="184785" y="2342896"/>
                  </a:lnTo>
                  <a:cubicBezTo>
                    <a:pt x="82804" y="2342896"/>
                    <a:pt x="0" y="2260981"/>
                    <a:pt x="0" y="2160016"/>
                  </a:cubicBez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87516" cy="2380996"/>
            </a:xfrm>
            <a:custGeom>
              <a:avLst/>
              <a:gdLst/>
              <a:ahLst/>
              <a:cxnLst/>
              <a:rect r="r" b="b" t="t" l="l"/>
              <a:pathLst>
                <a:path h="2380996" w="6287516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083681" y="0"/>
                  </a:lnTo>
                  <a:lnTo>
                    <a:pt x="6083681" y="19050"/>
                  </a:lnTo>
                  <a:lnTo>
                    <a:pt x="6083681" y="0"/>
                  </a:lnTo>
                  <a:cubicBezTo>
                    <a:pt x="6196076" y="0"/>
                    <a:pt x="6287516" y="90170"/>
                    <a:pt x="6287516" y="201930"/>
                  </a:cubicBezTo>
                  <a:lnTo>
                    <a:pt x="6268466" y="201930"/>
                  </a:lnTo>
                  <a:lnTo>
                    <a:pt x="6287516" y="201930"/>
                  </a:lnTo>
                  <a:lnTo>
                    <a:pt x="6287516" y="2179066"/>
                  </a:lnTo>
                  <a:lnTo>
                    <a:pt x="6268466" y="2179066"/>
                  </a:lnTo>
                  <a:lnTo>
                    <a:pt x="6287516" y="2179066"/>
                  </a:lnTo>
                  <a:cubicBezTo>
                    <a:pt x="6287516" y="2290826"/>
                    <a:pt x="6196076" y="2380996"/>
                    <a:pt x="6083681" y="2380996"/>
                  </a:cubicBezTo>
                  <a:lnTo>
                    <a:pt x="6083681" y="2361946"/>
                  </a:lnTo>
                  <a:lnTo>
                    <a:pt x="6083681" y="2380996"/>
                  </a:lnTo>
                  <a:lnTo>
                    <a:pt x="203835" y="2380996"/>
                  </a:lnTo>
                  <a:lnTo>
                    <a:pt x="203835" y="2361946"/>
                  </a:lnTo>
                  <a:lnTo>
                    <a:pt x="203835" y="2380996"/>
                  </a:lnTo>
                  <a:cubicBezTo>
                    <a:pt x="91440" y="2380996"/>
                    <a:pt x="0" y="2290826"/>
                    <a:pt x="0" y="217906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79066"/>
                  </a:lnTo>
                  <a:lnTo>
                    <a:pt x="19050" y="2179066"/>
                  </a:lnTo>
                  <a:lnTo>
                    <a:pt x="38100" y="2179066"/>
                  </a:lnTo>
                  <a:cubicBezTo>
                    <a:pt x="38100" y="2269363"/>
                    <a:pt x="112141" y="2342896"/>
                    <a:pt x="203835" y="2342896"/>
                  </a:cubicBezTo>
                  <a:lnTo>
                    <a:pt x="6083681" y="2342896"/>
                  </a:lnTo>
                  <a:cubicBezTo>
                    <a:pt x="6175375" y="2342896"/>
                    <a:pt x="6249416" y="2269363"/>
                    <a:pt x="6249416" y="2179066"/>
                  </a:cubicBezTo>
                  <a:lnTo>
                    <a:pt x="6249416" y="201930"/>
                  </a:lnTo>
                  <a:cubicBezTo>
                    <a:pt x="6249416" y="111633"/>
                    <a:pt x="6175375" y="38100"/>
                    <a:pt x="6083681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931784" y="7878070"/>
            <a:ext cx="114300" cy="1757210"/>
            <a:chOff x="0" y="0"/>
            <a:chExt cx="152400" cy="234294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" cy="2342896"/>
            </a:xfrm>
            <a:custGeom>
              <a:avLst/>
              <a:gdLst/>
              <a:ahLst/>
              <a:cxnLst/>
              <a:rect r="r" b="b" t="t" l="l"/>
              <a:pathLst>
                <a:path h="234289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66696"/>
                  </a:lnTo>
                  <a:cubicBezTo>
                    <a:pt x="152400" y="2308733"/>
                    <a:pt x="118237" y="2342896"/>
                    <a:pt x="76200" y="2342896"/>
                  </a:cubicBezTo>
                  <a:cubicBezTo>
                    <a:pt x="34163" y="2342896"/>
                    <a:pt x="0" y="2308733"/>
                    <a:pt x="0" y="2266696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282876" y="8086277"/>
            <a:ext cx="2980582" cy="35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Heterogeneous Node Types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82876" y="8503291"/>
            <a:ext cx="4127744" cy="8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HAA, HFE, KFE joints share weights within type — enforcing </a:t>
            </a:r>
            <a:r>
              <a:rPr lang="en-US" sz="1625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mechanical symmetry</a:t>
            </a: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and reducing redundant parameters.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785972" y="7863783"/>
            <a:ext cx="4715770" cy="1785785"/>
            <a:chOff x="0" y="0"/>
            <a:chExt cx="6287694" cy="23810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6249670" cy="2342896"/>
            </a:xfrm>
            <a:custGeom>
              <a:avLst/>
              <a:gdLst/>
              <a:ahLst/>
              <a:cxnLst/>
              <a:rect r="r" b="b" t="t" l="l"/>
              <a:pathLst>
                <a:path h="2342896" w="6249670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064885" y="0"/>
                  </a:lnTo>
                  <a:cubicBezTo>
                    <a:pt x="6166866" y="0"/>
                    <a:pt x="6249670" y="81915"/>
                    <a:pt x="6249670" y="182880"/>
                  </a:cubicBezTo>
                  <a:lnTo>
                    <a:pt x="6249670" y="2160016"/>
                  </a:lnTo>
                  <a:cubicBezTo>
                    <a:pt x="6249670" y="2260981"/>
                    <a:pt x="6166993" y="2342896"/>
                    <a:pt x="6064885" y="2342896"/>
                  </a:cubicBezTo>
                  <a:lnTo>
                    <a:pt x="184785" y="2342896"/>
                  </a:lnTo>
                  <a:cubicBezTo>
                    <a:pt x="82804" y="2342896"/>
                    <a:pt x="0" y="2260981"/>
                    <a:pt x="0" y="2160016"/>
                  </a:cubicBez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87770" cy="2380996"/>
            </a:xfrm>
            <a:custGeom>
              <a:avLst/>
              <a:gdLst/>
              <a:ahLst/>
              <a:cxnLst/>
              <a:rect r="r" b="b" t="t" l="l"/>
              <a:pathLst>
                <a:path h="2380996" w="6287770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083935" y="0"/>
                  </a:lnTo>
                  <a:lnTo>
                    <a:pt x="6083935" y="19050"/>
                  </a:lnTo>
                  <a:lnTo>
                    <a:pt x="6083935" y="0"/>
                  </a:lnTo>
                  <a:cubicBezTo>
                    <a:pt x="6196330" y="0"/>
                    <a:pt x="6287770" y="90170"/>
                    <a:pt x="6287770" y="201930"/>
                  </a:cubicBezTo>
                  <a:lnTo>
                    <a:pt x="6268720" y="201930"/>
                  </a:lnTo>
                  <a:lnTo>
                    <a:pt x="6287770" y="201930"/>
                  </a:lnTo>
                  <a:lnTo>
                    <a:pt x="6287770" y="2179066"/>
                  </a:lnTo>
                  <a:lnTo>
                    <a:pt x="6268720" y="2179066"/>
                  </a:lnTo>
                  <a:lnTo>
                    <a:pt x="6287770" y="2179066"/>
                  </a:lnTo>
                  <a:cubicBezTo>
                    <a:pt x="6287770" y="2290826"/>
                    <a:pt x="6196330" y="2380996"/>
                    <a:pt x="6083935" y="2380996"/>
                  </a:cubicBezTo>
                  <a:lnTo>
                    <a:pt x="6083935" y="2361946"/>
                  </a:lnTo>
                  <a:lnTo>
                    <a:pt x="6083935" y="2380996"/>
                  </a:lnTo>
                  <a:lnTo>
                    <a:pt x="203835" y="2380996"/>
                  </a:lnTo>
                  <a:lnTo>
                    <a:pt x="203835" y="2361946"/>
                  </a:lnTo>
                  <a:lnTo>
                    <a:pt x="203835" y="2380996"/>
                  </a:lnTo>
                  <a:cubicBezTo>
                    <a:pt x="91440" y="2380996"/>
                    <a:pt x="0" y="2290826"/>
                    <a:pt x="0" y="217906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79066"/>
                  </a:lnTo>
                  <a:lnTo>
                    <a:pt x="19050" y="2179066"/>
                  </a:lnTo>
                  <a:lnTo>
                    <a:pt x="38100" y="2179066"/>
                  </a:lnTo>
                  <a:cubicBezTo>
                    <a:pt x="38100" y="2269363"/>
                    <a:pt x="112141" y="2342896"/>
                    <a:pt x="203835" y="2342896"/>
                  </a:cubicBezTo>
                  <a:lnTo>
                    <a:pt x="6083935" y="2342896"/>
                  </a:lnTo>
                  <a:cubicBezTo>
                    <a:pt x="6175629" y="2342896"/>
                    <a:pt x="6249670" y="2269363"/>
                    <a:pt x="6249670" y="2179066"/>
                  </a:cubicBezTo>
                  <a:lnTo>
                    <a:pt x="6249670" y="201930"/>
                  </a:lnTo>
                  <a:cubicBezTo>
                    <a:pt x="6249670" y="111633"/>
                    <a:pt x="6175629" y="38100"/>
                    <a:pt x="6083935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771684" y="7878070"/>
            <a:ext cx="114300" cy="1757210"/>
            <a:chOff x="0" y="0"/>
            <a:chExt cx="152400" cy="23429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2342896"/>
            </a:xfrm>
            <a:custGeom>
              <a:avLst/>
              <a:gdLst/>
              <a:ahLst/>
              <a:cxnLst/>
              <a:rect r="r" b="b" t="t" l="l"/>
              <a:pathLst>
                <a:path h="234289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66696"/>
                  </a:lnTo>
                  <a:cubicBezTo>
                    <a:pt x="152400" y="2308733"/>
                    <a:pt x="118237" y="2342896"/>
                    <a:pt x="76200" y="2342896"/>
                  </a:cubicBezTo>
                  <a:cubicBezTo>
                    <a:pt x="34163" y="2342896"/>
                    <a:pt x="0" y="2308733"/>
                    <a:pt x="0" y="2266696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22766" y="8086277"/>
            <a:ext cx="3175549" cy="35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GATv2 Attention Mechanism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22766" y="8503291"/>
            <a:ext cx="4127897" cy="8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Dynamic attention scores allow each joint to </a:t>
            </a:r>
            <a:r>
              <a:rPr lang="en-US" sz="1625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selectively attend</a:t>
            </a: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to the most relevant neighbors at every timestep.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626005" y="7863783"/>
            <a:ext cx="4715770" cy="1785785"/>
            <a:chOff x="0" y="0"/>
            <a:chExt cx="6287694" cy="23810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9050" y="19050"/>
              <a:ext cx="6249670" cy="2342896"/>
            </a:xfrm>
            <a:custGeom>
              <a:avLst/>
              <a:gdLst/>
              <a:ahLst/>
              <a:cxnLst/>
              <a:rect r="r" b="b" t="t" l="l"/>
              <a:pathLst>
                <a:path h="2342896" w="6249670">
                  <a:moveTo>
                    <a:pt x="0" y="182880"/>
                  </a:moveTo>
                  <a:cubicBezTo>
                    <a:pt x="0" y="81915"/>
                    <a:pt x="82677" y="0"/>
                    <a:pt x="184785" y="0"/>
                  </a:cubicBezTo>
                  <a:lnTo>
                    <a:pt x="6064885" y="0"/>
                  </a:lnTo>
                  <a:cubicBezTo>
                    <a:pt x="6166866" y="0"/>
                    <a:pt x="6249670" y="81915"/>
                    <a:pt x="6249670" y="182880"/>
                  </a:cubicBezTo>
                  <a:lnTo>
                    <a:pt x="6249670" y="2160016"/>
                  </a:lnTo>
                  <a:cubicBezTo>
                    <a:pt x="6249670" y="2260981"/>
                    <a:pt x="6166993" y="2342896"/>
                    <a:pt x="6064885" y="2342896"/>
                  </a:cubicBezTo>
                  <a:lnTo>
                    <a:pt x="184785" y="2342896"/>
                  </a:lnTo>
                  <a:cubicBezTo>
                    <a:pt x="82804" y="2342896"/>
                    <a:pt x="0" y="2260981"/>
                    <a:pt x="0" y="2160016"/>
                  </a:cubicBez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87770" cy="2380996"/>
            </a:xfrm>
            <a:custGeom>
              <a:avLst/>
              <a:gdLst/>
              <a:ahLst/>
              <a:cxnLst/>
              <a:rect r="r" b="b" t="t" l="l"/>
              <a:pathLst>
                <a:path h="2380996" w="6287770">
                  <a:moveTo>
                    <a:pt x="0" y="201930"/>
                  </a:moveTo>
                  <a:cubicBezTo>
                    <a:pt x="0" y="90170"/>
                    <a:pt x="91440" y="0"/>
                    <a:pt x="203835" y="0"/>
                  </a:cubicBezTo>
                  <a:lnTo>
                    <a:pt x="6083935" y="0"/>
                  </a:lnTo>
                  <a:lnTo>
                    <a:pt x="6083935" y="19050"/>
                  </a:lnTo>
                  <a:lnTo>
                    <a:pt x="6083935" y="0"/>
                  </a:lnTo>
                  <a:cubicBezTo>
                    <a:pt x="6196330" y="0"/>
                    <a:pt x="6287770" y="90170"/>
                    <a:pt x="6287770" y="201930"/>
                  </a:cubicBezTo>
                  <a:lnTo>
                    <a:pt x="6268720" y="201930"/>
                  </a:lnTo>
                  <a:lnTo>
                    <a:pt x="6287770" y="201930"/>
                  </a:lnTo>
                  <a:lnTo>
                    <a:pt x="6287770" y="2179066"/>
                  </a:lnTo>
                  <a:lnTo>
                    <a:pt x="6268720" y="2179066"/>
                  </a:lnTo>
                  <a:lnTo>
                    <a:pt x="6287770" y="2179066"/>
                  </a:lnTo>
                  <a:cubicBezTo>
                    <a:pt x="6287770" y="2290826"/>
                    <a:pt x="6196330" y="2380996"/>
                    <a:pt x="6083935" y="2380996"/>
                  </a:cubicBezTo>
                  <a:lnTo>
                    <a:pt x="6083935" y="2361946"/>
                  </a:lnTo>
                  <a:lnTo>
                    <a:pt x="6083935" y="2380996"/>
                  </a:lnTo>
                  <a:lnTo>
                    <a:pt x="203835" y="2380996"/>
                  </a:lnTo>
                  <a:lnTo>
                    <a:pt x="203835" y="2361946"/>
                  </a:lnTo>
                  <a:lnTo>
                    <a:pt x="203835" y="2380996"/>
                  </a:lnTo>
                  <a:cubicBezTo>
                    <a:pt x="91440" y="2380996"/>
                    <a:pt x="0" y="2290826"/>
                    <a:pt x="0" y="217906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79066"/>
                  </a:lnTo>
                  <a:lnTo>
                    <a:pt x="19050" y="2179066"/>
                  </a:lnTo>
                  <a:lnTo>
                    <a:pt x="38100" y="2179066"/>
                  </a:lnTo>
                  <a:cubicBezTo>
                    <a:pt x="38100" y="2269363"/>
                    <a:pt x="112141" y="2342896"/>
                    <a:pt x="203835" y="2342896"/>
                  </a:cubicBezTo>
                  <a:lnTo>
                    <a:pt x="6083935" y="2342896"/>
                  </a:lnTo>
                  <a:cubicBezTo>
                    <a:pt x="6175629" y="2342896"/>
                    <a:pt x="6249670" y="2269363"/>
                    <a:pt x="6249670" y="2179066"/>
                  </a:cubicBezTo>
                  <a:lnTo>
                    <a:pt x="6249670" y="201930"/>
                  </a:lnTo>
                  <a:cubicBezTo>
                    <a:pt x="6249670" y="111633"/>
                    <a:pt x="6175629" y="38100"/>
                    <a:pt x="6083935" y="38100"/>
                  </a:cubicBezTo>
                  <a:lnTo>
                    <a:pt x="203835" y="38100"/>
                  </a:lnTo>
                  <a:lnTo>
                    <a:pt x="203835" y="19050"/>
                  </a:lnTo>
                  <a:lnTo>
                    <a:pt x="203835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611718" y="7878070"/>
            <a:ext cx="114300" cy="1757210"/>
            <a:chOff x="0" y="0"/>
            <a:chExt cx="152400" cy="234294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2400" cy="2342896"/>
            </a:xfrm>
            <a:custGeom>
              <a:avLst/>
              <a:gdLst/>
              <a:ahLst/>
              <a:cxnLst/>
              <a:rect r="r" b="b" t="t" l="l"/>
              <a:pathLst>
                <a:path h="234289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66696"/>
                  </a:lnTo>
                  <a:cubicBezTo>
                    <a:pt x="152400" y="2308733"/>
                    <a:pt x="118237" y="2342896"/>
                    <a:pt x="76200" y="2342896"/>
                  </a:cubicBezTo>
                  <a:cubicBezTo>
                    <a:pt x="34163" y="2342896"/>
                    <a:pt x="0" y="2308733"/>
                    <a:pt x="0" y="2266696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962809" y="8086277"/>
            <a:ext cx="2861224" cy="35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85% Parameter Reduction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962809" y="8503291"/>
            <a:ext cx="4127897" cy="895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29,572 parameters</a:t>
            </a: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vs. ~200,000 in an equivalent MLP — same performance, fraction of the compute.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5550078" y="9710684"/>
            <a:ext cx="2737922" cy="490591"/>
            <a:chOff x="0" y="0"/>
            <a:chExt cx="721099" cy="12920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1099" cy="129209"/>
            </a:xfrm>
            <a:custGeom>
              <a:avLst/>
              <a:gdLst/>
              <a:ahLst/>
              <a:cxnLst/>
              <a:rect r="r" b="b" t="t" l="l"/>
              <a:pathLst>
                <a:path h="129209" w="721099">
                  <a:moveTo>
                    <a:pt x="0" y="0"/>
                  </a:moveTo>
                  <a:lnTo>
                    <a:pt x="721099" y="0"/>
                  </a:lnTo>
                  <a:lnTo>
                    <a:pt x="721099" y="129209"/>
                  </a:lnTo>
                  <a:lnTo>
                    <a:pt x="0" y="129209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21099" cy="186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2783" y="762152"/>
            <a:ext cx="2123037" cy="436064"/>
            <a:chOff x="0" y="0"/>
            <a:chExt cx="2830716" cy="5814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0830" cy="581533"/>
            </a:xfrm>
            <a:custGeom>
              <a:avLst/>
              <a:gdLst/>
              <a:ahLst/>
              <a:cxnLst/>
              <a:rect r="r" b="b" t="t" l="l"/>
              <a:pathLst>
                <a:path h="581533" w="283083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2721610" y="0"/>
                  </a:lnTo>
                  <a:cubicBezTo>
                    <a:pt x="2781935" y="0"/>
                    <a:pt x="2830830" y="48895"/>
                    <a:pt x="2830830" y="109220"/>
                  </a:cubicBezTo>
                  <a:lnTo>
                    <a:pt x="2830830" y="472313"/>
                  </a:lnTo>
                  <a:cubicBezTo>
                    <a:pt x="2830830" y="532638"/>
                    <a:pt x="2781935" y="581533"/>
                    <a:pt x="2721610" y="581533"/>
                  </a:cubicBezTo>
                  <a:lnTo>
                    <a:pt x="109220" y="581533"/>
                  </a:lnTo>
                  <a:cubicBezTo>
                    <a:pt x="48895" y="581533"/>
                    <a:pt x="0" y="532638"/>
                    <a:pt x="0" y="472313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8934" y="797128"/>
            <a:ext cx="1830734" cy="32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5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LITERATURE 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783" y="1253280"/>
            <a:ext cx="8966749" cy="78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Prior Work &amp; Research Positioning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48020" y="2352523"/>
            <a:ext cx="16591959" cy="5636571"/>
            <a:chOff x="0" y="0"/>
            <a:chExt cx="22122613" cy="75154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22639" cy="7515479"/>
            </a:xfrm>
            <a:custGeom>
              <a:avLst/>
              <a:gdLst/>
              <a:ahLst/>
              <a:cxnLst/>
              <a:rect r="r" b="b" t="t" l="l"/>
              <a:pathLst>
                <a:path h="7515479" w="22122639">
                  <a:moveTo>
                    <a:pt x="0" y="142875"/>
                  </a:moveTo>
                  <a:cubicBezTo>
                    <a:pt x="0" y="63881"/>
                    <a:pt x="64008" y="0"/>
                    <a:pt x="143002" y="0"/>
                  </a:cubicBezTo>
                  <a:lnTo>
                    <a:pt x="21979637" y="0"/>
                  </a:lnTo>
                  <a:lnTo>
                    <a:pt x="21979637" y="6350"/>
                  </a:lnTo>
                  <a:lnTo>
                    <a:pt x="21979637" y="0"/>
                  </a:lnTo>
                  <a:cubicBezTo>
                    <a:pt x="22058630" y="0"/>
                    <a:pt x="22122639" y="63881"/>
                    <a:pt x="22122639" y="142875"/>
                  </a:cubicBezTo>
                  <a:lnTo>
                    <a:pt x="22116289" y="142875"/>
                  </a:lnTo>
                  <a:lnTo>
                    <a:pt x="22122639" y="142875"/>
                  </a:lnTo>
                  <a:lnTo>
                    <a:pt x="22122639" y="7372604"/>
                  </a:lnTo>
                  <a:lnTo>
                    <a:pt x="22116289" y="7372604"/>
                  </a:lnTo>
                  <a:lnTo>
                    <a:pt x="22122639" y="7372604"/>
                  </a:lnTo>
                  <a:cubicBezTo>
                    <a:pt x="22122639" y="7451472"/>
                    <a:pt x="22058630" y="7515479"/>
                    <a:pt x="21979637" y="7515479"/>
                  </a:cubicBezTo>
                  <a:lnTo>
                    <a:pt x="21979637" y="7509129"/>
                  </a:lnTo>
                  <a:lnTo>
                    <a:pt x="21979637" y="7515479"/>
                  </a:lnTo>
                  <a:lnTo>
                    <a:pt x="143002" y="7515479"/>
                  </a:lnTo>
                  <a:lnTo>
                    <a:pt x="143002" y="7509129"/>
                  </a:lnTo>
                  <a:lnTo>
                    <a:pt x="143002" y="7515479"/>
                  </a:lnTo>
                  <a:cubicBezTo>
                    <a:pt x="64008" y="7515479"/>
                    <a:pt x="0" y="7451471"/>
                    <a:pt x="0" y="7372604"/>
                  </a:cubicBezTo>
                  <a:lnTo>
                    <a:pt x="0" y="142875"/>
                  </a:lnTo>
                  <a:lnTo>
                    <a:pt x="6350" y="142875"/>
                  </a:lnTo>
                  <a:lnTo>
                    <a:pt x="0" y="142875"/>
                  </a:lnTo>
                  <a:moveTo>
                    <a:pt x="12700" y="142875"/>
                  </a:moveTo>
                  <a:lnTo>
                    <a:pt x="12700" y="7372604"/>
                  </a:lnTo>
                  <a:lnTo>
                    <a:pt x="6350" y="7372604"/>
                  </a:lnTo>
                  <a:lnTo>
                    <a:pt x="12700" y="7372604"/>
                  </a:lnTo>
                  <a:cubicBezTo>
                    <a:pt x="12700" y="7444486"/>
                    <a:pt x="70993" y="7502779"/>
                    <a:pt x="143002" y="7502779"/>
                  </a:cubicBezTo>
                  <a:lnTo>
                    <a:pt x="21979637" y="7502779"/>
                  </a:lnTo>
                  <a:cubicBezTo>
                    <a:pt x="22051646" y="7502779"/>
                    <a:pt x="22109939" y="7444486"/>
                    <a:pt x="22109939" y="7372604"/>
                  </a:cubicBezTo>
                  <a:lnTo>
                    <a:pt x="22109939" y="142875"/>
                  </a:lnTo>
                  <a:cubicBezTo>
                    <a:pt x="22109939" y="70993"/>
                    <a:pt x="22051646" y="12700"/>
                    <a:pt x="21979637" y="12700"/>
                  </a:cubicBezTo>
                  <a:lnTo>
                    <a:pt x="143002" y="12700"/>
                  </a:lnTo>
                  <a:lnTo>
                    <a:pt x="143002" y="6350"/>
                  </a:lnTo>
                  <a:lnTo>
                    <a:pt x="143002" y="12700"/>
                  </a:lnTo>
                  <a:cubicBezTo>
                    <a:pt x="70993" y="12700"/>
                    <a:pt x="12700" y="70993"/>
                    <a:pt x="12700" y="14287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2308" y="2366810"/>
            <a:ext cx="16563384" cy="632670"/>
            <a:chOff x="0" y="0"/>
            <a:chExt cx="22084513" cy="843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84537" cy="843534"/>
            </a:xfrm>
            <a:custGeom>
              <a:avLst/>
              <a:gdLst/>
              <a:ahLst/>
              <a:cxnLst/>
              <a:rect r="r" b="b" t="t" l="l"/>
              <a:pathLst>
                <a:path h="843534" w="22084537">
                  <a:moveTo>
                    <a:pt x="0" y="0"/>
                  </a:moveTo>
                  <a:lnTo>
                    <a:pt x="22084537" y="0"/>
                  </a:lnTo>
                  <a:lnTo>
                    <a:pt x="22084537" y="843534"/>
                  </a:lnTo>
                  <a:lnTo>
                    <a:pt x="0" y="84353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06243" y="2444801"/>
            <a:ext cx="282059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Authors &amp; Year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23620" y="2444801"/>
            <a:ext cx="5797153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Paper Title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17559" y="2444801"/>
            <a:ext cx="6464503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We Learned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62308" y="2999480"/>
            <a:ext cx="16563384" cy="995067"/>
            <a:chOff x="0" y="0"/>
            <a:chExt cx="22084513" cy="13267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084537" cy="1326769"/>
            </a:xfrm>
            <a:custGeom>
              <a:avLst/>
              <a:gdLst/>
              <a:ahLst/>
              <a:cxnLst/>
              <a:rect r="r" b="b" t="t" l="l"/>
              <a:pathLst>
                <a:path h="1326769" w="22084537">
                  <a:moveTo>
                    <a:pt x="0" y="0"/>
                  </a:moveTo>
                  <a:lnTo>
                    <a:pt x="22084537" y="0"/>
                  </a:lnTo>
                  <a:lnTo>
                    <a:pt x="22084537" y="1326769"/>
                  </a:lnTo>
                  <a:lnTo>
                    <a:pt x="0" y="1326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06243" y="3077470"/>
            <a:ext cx="282059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Hwangbo et al. (2019)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23620" y="3077470"/>
            <a:ext cx="579715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Learning Agile Motor Skills for Legged Robots — </a:t>
            </a:r>
            <a:r>
              <a:rPr lang="en-US" sz="1874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Science Robotics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17559" y="3077470"/>
            <a:ext cx="646450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MLP policies transfer sim-to-real but are locked to one morphology.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62308" y="3994547"/>
            <a:ext cx="16563384" cy="995067"/>
            <a:chOff x="0" y="0"/>
            <a:chExt cx="22084513" cy="13267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84537" cy="1326769"/>
            </a:xfrm>
            <a:custGeom>
              <a:avLst/>
              <a:gdLst/>
              <a:ahLst/>
              <a:cxnLst/>
              <a:rect r="r" b="b" t="t" l="l"/>
              <a:pathLst>
                <a:path h="1326769" w="22084537">
                  <a:moveTo>
                    <a:pt x="0" y="0"/>
                  </a:moveTo>
                  <a:lnTo>
                    <a:pt x="22084537" y="0"/>
                  </a:lnTo>
                  <a:lnTo>
                    <a:pt x="22084537" y="1326769"/>
                  </a:lnTo>
                  <a:lnTo>
                    <a:pt x="0" y="13267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06243" y="4072528"/>
            <a:ext cx="282059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Wang et al. (2018)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23620" y="4072528"/>
            <a:ext cx="579715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NerveNet: Learning Structured Policy with GNNs — </a:t>
            </a:r>
            <a:r>
              <a:rPr lang="en-US" sz="1874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ICLR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17559" y="4072528"/>
            <a:ext cx="646450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Graph structures enable transfer between robots with different limb counts.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62308" y="4989614"/>
            <a:ext cx="16563384" cy="995067"/>
            <a:chOff x="0" y="0"/>
            <a:chExt cx="22084513" cy="13267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84537" cy="1326769"/>
            </a:xfrm>
            <a:custGeom>
              <a:avLst/>
              <a:gdLst/>
              <a:ahLst/>
              <a:cxnLst/>
              <a:rect r="r" b="b" t="t" l="l"/>
              <a:pathLst>
                <a:path h="1326769" w="22084537">
                  <a:moveTo>
                    <a:pt x="0" y="0"/>
                  </a:moveTo>
                  <a:lnTo>
                    <a:pt x="22084537" y="0"/>
                  </a:lnTo>
                  <a:lnTo>
                    <a:pt x="22084537" y="1326769"/>
                  </a:lnTo>
                  <a:lnTo>
                    <a:pt x="0" y="1326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06243" y="5067595"/>
            <a:ext cx="282059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Brody et al. (2021)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423620" y="5067595"/>
            <a:ext cx="579715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How Attentive are Graph Attention Networks? (GATv2) — </a:t>
            </a:r>
            <a:r>
              <a:rPr lang="en-US" sz="1874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ICLR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717559" y="5067595"/>
            <a:ext cx="646450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Dynamic attention outperforms static for modeling joint-to-joint interactions.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62308" y="5984672"/>
            <a:ext cx="16563384" cy="995067"/>
            <a:chOff x="0" y="0"/>
            <a:chExt cx="22084513" cy="13267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084537" cy="1326769"/>
            </a:xfrm>
            <a:custGeom>
              <a:avLst/>
              <a:gdLst/>
              <a:ahLst/>
              <a:cxnLst/>
              <a:rect r="r" b="b" t="t" l="l"/>
              <a:pathLst>
                <a:path h="1326769" w="22084537">
                  <a:moveTo>
                    <a:pt x="0" y="0"/>
                  </a:moveTo>
                  <a:lnTo>
                    <a:pt x="22084537" y="0"/>
                  </a:lnTo>
                  <a:lnTo>
                    <a:pt x="22084537" y="1326769"/>
                  </a:lnTo>
                  <a:lnTo>
                    <a:pt x="0" y="132676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06243" y="6062662"/>
            <a:ext cx="282059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Butterfield et al. (2024)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23620" y="6062662"/>
            <a:ext cx="579715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Morphology-Informed Heterogeneous GNNs — </a:t>
            </a:r>
            <a:r>
              <a:rPr lang="en-US" sz="1874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ICRA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17559" y="6062662"/>
            <a:ext cx="646450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Heterogeneous node roles (HAA, HFE, KFE) enforce symmetry and improve efficiency.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62308" y="6979739"/>
            <a:ext cx="16563384" cy="995067"/>
            <a:chOff x="0" y="0"/>
            <a:chExt cx="22084513" cy="13267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84537" cy="1326769"/>
            </a:xfrm>
            <a:custGeom>
              <a:avLst/>
              <a:gdLst/>
              <a:ahLst/>
              <a:cxnLst/>
              <a:rect r="r" b="b" t="t" l="l"/>
              <a:pathLst>
                <a:path h="1326769" w="22084537">
                  <a:moveTo>
                    <a:pt x="0" y="0"/>
                  </a:moveTo>
                  <a:lnTo>
                    <a:pt x="22084537" y="0"/>
                  </a:lnTo>
                  <a:lnTo>
                    <a:pt x="22084537" y="1326769"/>
                  </a:lnTo>
                  <a:lnTo>
                    <a:pt x="0" y="132676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06243" y="7057730"/>
            <a:ext cx="2820591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Schulman et al. (2017)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423620" y="7057730"/>
            <a:ext cx="5797153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Proximal Policy Optimization Algorithms — </a:t>
            </a:r>
            <a:r>
              <a:rPr lang="en-US" sz="1874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arXiv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717559" y="7057730"/>
            <a:ext cx="6464503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PPO provides stability for training high-dimensional continuous locomotion.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52783" y="8219780"/>
            <a:ext cx="16582434" cy="1305077"/>
            <a:chOff x="0" y="0"/>
            <a:chExt cx="22109913" cy="174010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09810" cy="1740027"/>
            </a:xfrm>
            <a:custGeom>
              <a:avLst/>
              <a:gdLst/>
              <a:ahLst/>
              <a:cxnLst/>
              <a:rect r="r" b="b" t="t" l="l"/>
              <a:pathLst>
                <a:path h="1740027" w="22109810">
                  <a:moveTo>
                    <a:pt x="0" y="136398"/>
                  </a:moveTo>
                  <a:cubicBezTo>
                    <a:pt x="0" y="61087"/>
                    <a:pt x="61087" y="0"/>
                    <a:pt x="136398" y="0"/>
                  </a:cubicBezTo>
                  <a:lnTo>
                    <a:pt x="21973412" y="0"/>
                  </a:lnTo>
                  <a:cubicBezTo>
                    <a:pt x="22048724" y="0"/>
                    <a:pt x="22109810" y="61087"/>
                    <a:pt x="22109810" y="136398"/>
                  </a:cubicBezTo>
                  <a:lnTo>
                    <a:pt x="22109810" y="1603629"/>
                  </a:lnTo>
                  <a:cubicBezTo>
                    <a:pt x="22109810" y="1678940"/>
                    <a:pt x="22048724" y="1740027"/>
                    <a:pt x="21973412" y="1740027"/>
                  </a:cubicBezTo>
                  <a:lnTo>
                    <a:pt x="136398" y="1740027"/>
                  </a:lnTo>
                  <a:cubicBezTo>
                    <a:pt x="61087" y="1740154"/>
                    <a:pt x="0" y="1678940"/>
                    <a:pt x="0" y="1603629"/>
                  </a:cubicBezTo>
                  <a:close/>
                </a:path>
              </a:pathLst>
            </a:custGeom>
            <a:solidFill>
              <a:srgbClr val="E1D4D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96413" y="8587235"/>
            <a:ext cx="304505" cy="243630"/>
            <a:chOff x="0" y="0"/>
            <a:chExt cx="406006" cy="324841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406019" cy="324866"/>
            </a:xfrm>
            <a:custGeom>
              <a:avLst/>
              <a:gdLst/>
              <a:ahLst/>
              <a:cxnLst/>
              <a:rect r="r" b="b" t="t" l="l"/>
              <a:pathLst>
                <a:path h="324866" w="406019">
                  <a:moveTo>
                    <a:pt x="0" y="0"/>
                  </a:moveTo>
                  <a:lnTo>
                    <a:pt x="406019" y="0"/>
                  </a:lnTo>
                  <a:lnTo>
                    <a:pt x="406019" y="324866"/>
                  </a:lnTo>
                  <a:lnTo>
                    <a:pt x="0" y="324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74" r="3" b="-77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644548" y="8432749"/>
            <a:ext cx="15547029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Research Gap:</a:t>
            </a:r>
            <a:r>
              <a:rPr lang="en-US" sz="18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No existing work combines heterogeneous GATv2 architectures with end-to-end PPO training to achieve </a:t>
            </a:r>
            <a:r>
              <a:rPr lang="en-US" sz="187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zero-shot morphology transfer</a:t>
            </a:r>
            <a:r>
              <a:rPr lang="en-US" sz="18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from quadrupeds to 18-joint hexapods.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5186074" y="9615726"/>
            <a:ext cx="3101926" cy="585549"/>
            <a:chOff x="0" y="0"/>
            <a:chExt cx="816968" cy="1542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6968" cy="154219"/>
            </a:xfrm>
            <a:custGeom>
              <a:avLst/>
              <a:gdLst/>
              <a:ahLst/>
              <a:cxnLst/>
              <a:rect r="r" b="b" t="t" l="l"/>
              <a:pathLst>
                <a:path h="154219" w="816968">
                  <a:moveTo>
                    <a:pt x="0" y="0"/>
                  </a:moveTo>
                  <a:lnTo>
                    <a:pt x="816968" y="0"/>
                  </a:lnTo>
                  <a:lnTo>
                    <a:pt x="816968" y="154219"/>
                  </a:lnTo>
                  <a:lnTo>
                    <a:pt x="0" y="154219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16968" cy="211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6130" y="714823"/>
            <a:ext cx="1933127" cy="405260"/>
            <a:chOff x="0" y="0"/>
            <a:chExt cx="2577503" cy="540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7592" cy="540385"/>
            </a:xfrm>
            <a:custGeom>
              <a:avLst/>
              <a:gdLst/>
              <a:ahLst/>
              <a:cxnLst/>
              <a:rect r="r" b="b" t="t" l="l"/>
              <a:pathLst>
                <a:path h="540385" w="2577592">
                  <a:moveTo>
                    <a:pt x="0" y="103251"/>
                  </a:moveTo>
                  <a:cubicBezTo>
                    <a:pt x="0" y="46228"/>
                    <a:pt x="46228" y="0"/>
                    <a:pt x="103251" y="0"/>
                  </a:cubicBezTo>
                  <a:lnTo>
                    <a:pt x="2474341" y="0"/>
                  </a:lnTo>
                  <a:cubicBezTo>
                    <a:pt x="2531364" y="0"/>
                    <a:pt x="2577592" y="46228"/>
                    <a:pt x="2577592" y="103251"/>
                  </a:cubicBezTo>
                  <a:lnTo>
                    <a:pt x="2577592" y="437134"/>
                  </a:lnTo>
                  <a:cubicBezTo>
                    <a:pt x="2577592" y="494157"/>
                    <a:pt x="2531364" y="540385"/>
                    <a:pt x="2474341" y="540385"/>
                  </a:cubicBezTo>
                  <a:lnTo>
                    <a:pt x="103251" y="540385"/>
                  </a:lnTo>
                  <a:cubicBezTo>
                    <a:pt x="46228" y="540385"/>
                    <a:pt x="0" y="494157"/>
                    <a:pt x="0" y="43713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34243" y="755304"/>
            <a:ext cx="1656902" cy="29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43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TRAINING PIPELINE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130" y="1156840"/>
            <a:ext cx="9314859" cy="75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Training Journey: PPO in PyBullet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6130" y="2405958"/>
            <a:ext cx="10135343" cy="5743280"/>
            <a:chOff x="0" y="0"/>
            <a:chExt cx="13513791" cy="765770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513815" cy="7657719"/>
            </a:xfrm>
            <a:custGeom>
              <a:avLst/>
              <a:gdLst/>
              <a:ahLst/>
              <a:cxnLst/>
              <a:rect r="r" b="b" t="t" l="l"/>
              <a:pathLst>
                <a:path h="7657719" w="13513815">
                  <a:moveTo>
                    <a:pt x="0" y="0"/>
                  </a:moveTo>
                  <a:lnTo>
                    <a:pt x="13513815" y="0"/>
                  </a:lnTo>
                  <a:lnTo>
                    <a:pt x="13513815" y="7657719"/>
                  </a:lnTo>
                  <a:lnTo>
                    <a:pt x="0" y="7657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" r="0" b="-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902973" y="4201116"/>
            <a:ext cx="4396235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Proximal Policy Optimization (PPO)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02973" y="4738535"/>
            <a:ext cx="5198116" cy="104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On-policy RL with clipped surrogate objective — stable gradients for high-dimensional continuous control.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02973" y="5937047"/>
            <a:ext cx="4597003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Reward Engineering: Closing Exploits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82456" y="8581577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3" y="0"/>
                </a:lnTo>
                <a:lnTo>
                  <a:pt x="345433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44586" y="8532019"/>
            <a:ext cx="4393997" cy="104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"Couch Potato" Fix:</a:t>
            </a:r>
            <a:r>
              <a:rPr lang="en-US" sz="181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Penalized zero-motion — robot must move forward to earn reward.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658870" y="8581577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4" y="0"/>
                </a:lnTo>
                <a:lnTo>
                  <a:pt x="345434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321001" y="8532019"/>
            <a:ext cx="4394149" cy="1040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"Crawl" Fix:</a:t>
            </a:r>
            <a:r>
              <a:rPr lang="en-US" sz="181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Added gait symmetry bonus — rewarded coordinated leg phasing.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12035428" y="8581577"/>
            <a:ext cx="345434" cy="345434"/>
          </a:xfrm>
          <a:custGeom>
            <a:avLst/>
            <a:gdLst/>
            <a:ahLst/>
            <a:cxnLst/>
            <a:rect r="r" b="b" t="t" l="l"/>
            <a:pathLst>
              <a:path h="345434" w="345434">
                <a:moveTo>
                  <a:pt x="0" y="0"/>
                </a:moveTo>
                <a:lnTo>
                  <a:pt x="345434" y="0"/>
                </a:lnTo>
                <a:lnTo>
                  <a:pt x="345434" y="345434"/>
                </a:lnTo>
                <a:lnTo>
                  <a:pt x="0" y="345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106" t="0" r="-8109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697568" y="8532019"/>
            <a:ext cx="4393997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1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Energy Penalty:</a:t>
            </a:r>
            <a:r>
              <a:rPr lang="en-US" sz="181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Torque-squared cost enforced efficient, natural locomotion.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5804" y="751437"/>
            <a:ext cx="1204017" cy="499767"/>
            <a:chOff x="0" y="0"/>
            <a:chExt cx="1605356" cy="6663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5280" cy="666242"/>
            </a:xfrm>
            <a:custGeom>
              <a:avLst/>
              <a:gdLst/>
              <a:ahLst/>
              <a:cxnLst/>
              <a:rect r="r" b="b" t="t" l="l"/>
              <a:pathLst>
                <a:path h="666242" w="1605280">
                  <a:moveTo>
                    <a:pt x="0" y="121031"/>
                  </a:moveTo>
                  <a:cubicBezTo>
                    <a:pt x="0" y="54229"/>
                    <a:pt x="54229" y="0"/>
                    <a:pt x="121031" y="0"/>
                  </a:cubicBezTo>
                  <a:lnTo>
                    <a:pt x="1484249" y="0"/>
                  </a:lnTo>
                  <a:cubicBezTo>
                    <a:pt x="1551051" y="0"/>
                    <a:pt x="1605280" y="54229"/>
                    <a:pt x="1605280" y="121031"/>
                  </a:cubicBezTo>
                  <a:lnTo>
                    <a:pt x="1605280" y="545211"/>
                  </a:lnTo>
                  <a:cubicBezTo>
                    <a:pt x="1605280" y="612013"/>
                    <a:pt x="1551051" y="666242"/>
                    <a:pt x="1484249" y="666242"/>
                  </a:cubicBezTo>
                  <a:lnTo>
                    <a:pt x="121031" y="666242"/>
                  </a:lnTo>
                  <a:cubicBezTo>
                    <a:pt x="54229" y="666369"/>
                    <a:pt x="0" y="612140"/>
                    <a:pt x="0" y="545338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7872" y="775249"/>
            <a:ext cx="879872" cy="39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804" y="1316088"/>
            <a:ext cx="11373888" cy="88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Performance Comparison: GNN vs. MLP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1041" y="2870149"/>
            <a:ext cx="1149848" cy="215208"/>
            <a:chOff x="0" y="0"/>
            <a:chExt cx="1533131" cy="2869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1520317" cy="274320"/>
            </a:xfrm>
            <a:custGeom>
              <a:avLst/>
              <a:gdLst/>
              <a:ahLst/>
              <a:cxnLst/>
              <a:rect r="r" b="b" t="t" l="l"/>
              <a:pathLst>
                <a:path h="274320" w="1520317">
                  <a:moveTo>
                    <a:pt x="0" y="137160"/>
                  </a:moveTo>
                  <a:cubicBezTo>
                    <a:pt x="0" y="61341"/>
                    <a:pt x="63754" y="0"/>
                    <a:pt x="142240" y="0"/>
                  </a:cubicBezTo>
                  <a:lnTo>
                    <a:pt x="1378077" y="0"/>
                  </a:lnTo>
                  <a:cubicBezTo>
                    <a:pt x="1456690" y="0"/>
                    <a:pt x="1520317" y="61341"/>
                    <a:pt x="1520317" y="137160"/>
                  </a:cubicBezTo>
                  <a:cubicBezTo>
                    <a:pt x="1520317" y="212979"/>
                    <a:pt x="1456563" y="274320"/>
                    <a:pt x="1378077" y="274320"/>
                  </a:cubicBezTo>
                  <a:lnTo>
                    <a:pt x="142240" y="274320"/>
                  </a:lnTo>
                  <a:cubicBezTo>
                    <a:pt x="63754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3017" cy="287020"/>
            </a:xfrm>
            <a:custGeom>
              <a:avLst/>
              <a:gdLst/>
              <a:ahLst/>
              <a:cxnLst/>
              <a:rect r="r" b="b" t="t" l="l"/>
              <a:pathLst>
                <a:path h="287020" w="1533017">
                  <a:moveTo>
                    <a:pt x="0" y="143510"/>
                  </a:moveTo>
                  <a:cubicBezTo>
                    <a:pt x="0" y="64008"/>
                    <a:pt x="66802" y="0"/>
                    <a:pt x="148590" y="0"/>
                  </a:cubicBezTo>
                  <a:lnTo>
                    <a:pt x="1384427" y="0"/>
                  </a:lnTo>
                  <a:lnTo>
                    <a:pt x="1384427" y="6350"/>
                  </a:lnTo>
                  <a:lnTo>
                    <a:pt x="1384427" y="0"/>
                  </a:lnTo>
                  <a:cubicBezTo>
                    <a:pt x="1466342" y="0"/>
                    <a:pt x="1533017" y="64008"/>
                    <a:pt x="1533017" y="143510"/>
                  </a:cubicBezTo>
                  <a:lnTo>
                    <a:pt x="1526667" y="143510"/>
                  </a:lnTo>
                  <a:lnTo>
                    <a:pt x="1533017" y="143510"/>
                  </a:lnTo>
                  <a:lnTo>
                    <a:pt x="1526667" y="143510"/>
                  </a:lnTo>
                  <a:lnTo>
                    <a:pt x="1533017" y="143510"/>
                  </a:lnTo>
                  <a:cubicBezTo>
                    <a:pt x="1533017" y="223012"/>
                    <a:pt x="1466215" y="287020"/>
                    <a:pt x="1384427" y="287020"/>
                  </a:cubicBezTo>
                  <a:lnTo>
                    <a:pt x="1384427" y="280670"/>
                  </a:lnTo>
                  <a:lnTo>
                    <a:pt x="1384427" y="287020"/>
                  </a:lnTo>
                  <a:lnTo>
                    <a:pt x="148590" y="287020"/>
                  </a:lnTo>
                  <a:lnTo>
                    <a:pt x="148590" y="280670"/>
                  </a:lnTo>
                  <a:lnTo>
                    <a:pt x="148590" y="287020"/>
                  </a:lnTo>
                  <a:cubicBezTo>
                    <a:pt x="66802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279" y="274320"/>
                    <a:pt x="148590" y="274320"/>
                  </a:cubicBezTo>
                  <a:lnTo>
                    <a:pt x="1384427" y="274320"/>
                  </a:lnTo>
                  <a:cubicBezTo>
                    <a:pt x="1459738" y="274320"/>
                    <a:pt x="1520317" y="215519"/>
                    <a:pt x="1520317" y="143510"/>
                  </a:cubicBezTo>
                  <a:cubicBezTo>
                    <a:pt x="1520317" y="71501"/>
                    <a:pt x="1459738" y="12700"/>
                    <a:pt x="1384554" y="12700"/>
                  </a:cubicBezTo>
                  <a:lnTo>
                    <a:pt x="148590" y="12700"/>
                  </a:lnTo>
                  <a:lnTo>
                    <a:pt x="148590" y="6350"/>
                  </a:lnTo>
                  <a:lnTo>
                    <a:pt x="148590" y="12700"/>
                  </a:lnTo>
                  <a:cubicBezTo>
                    <a:pt x="73279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12479" y="2920603"/>
            <a:ext cx="114300" cy="114300"/>
            <a:chOff x="0" y="0"/>
            <a:chExt cx="152400" cy="1524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64879" y="2874912"/>
            <a:ext cx="854573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443728"/>
                </a:solidFill>
                <a:latin typeface="Arimo"/>
                <a:ea typeface="Arimo"/>
                <a:cs typeface="Arimo"/>
                <a:sym typeface="Arimo"/>
              </a:rPr>
              <a:t>SlimHeteroGNN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157565" y="2870149"/>
            <a:ext cx="1009498" cy="215208"/>
            <a:chOff x="0" y="0"/>
            <a:chExt cx="1345997" cy="2869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1333246" cy="274320"/>
            </a:xfrm>
            <a:custGeom>
              <a:avLst/>
              <a:gdLst/>
              <a:ahLst/>
              <a:cxnLst/>
              <a:rect r="r" b="b" t="t" l="l"/>
              <a:pathLst>
                <a:path h="274320" w="1333246">
                  <a:moveTo>
                    <a:pt x="0" y="137160"/>
                  </a:moveTo>
                  <a:cubicBezTo>
                    <a:pt x="0" y="61341"/>
                    <a:pt x="63627" y="0"/>
                    <a:pt x="142113" y="0"/>
                  </a:cubicBezTo>
                  <a:lnTo>
                    <a:pt x="1191133" y="0"/>
                  </a:lnTo>
                  <a:cubicBezTo>
                    <a:pt x="1269619" y="0"/>
                    <a:pt x="1333246" y="61341"/>
                    <a:pt x="1333246" y="137160"/>
                  </a:cubicBezTo>
                  <a:cubicBezTo>
                    <a:pt x="1333246" y="212979"/>
                    <a:pt x="1269619" y="274320"/>
                    <a:pt x="1191133" y="274320"/>
                  </a:cubicBezTo>
                  <a:lnTo>
                    <a:pt x="142113" y="274320"/>
                  </a:lnTo>
                  <a:cubicBezTo>
                    <a:pt x="63627" y="274193"/>
                    <a:pt x="0" y="212852"/>
                    <a:pt x="0" y="137160"/>
                  </a:cubicBezTo>
                  <a:close/>
                </a:path>
              </a:pathLst>
            </a:custGeom>
            <a:solidFill>
              <a:srgbClr val="FFFFFF">
                <a:alpha val="3922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5946" cy="287020"/>
            </a:xfrm>
            <a:custGeom>
              <a:avLst/>
              <a:gdLst/>
              <a:ahLst/>
              <a:cxnLst/>
              <a:rect r="r" b="b" t="t" l="l"/>
              <a:pathLst>
                <a:path h="287020" w="1345946">
                  <a:moveTo>
                    <a:pt x="0" y="143510"/>
                  </a:moveTo>
                  <a:cubicBezTo>
                    <a:pt x="0" y="64008"/>
                    <a:pt x="66675" y="0"/>
                    <a:pt x="148463" y="0"/>
                  </a:cubicBezTo>
                  <a:lnTo>
                    <a:pt x="1197483" y="0"/>
                  </a:lnTo>
                  <a:lnTo>
                    <a:pt x="1197483" y="6350"/>
                  </a:lnTo>
                  <a:lnTo>
                    <a:pt x="1197483" y="0"/>
                  </a:lnTo>
                  <a:cubicBezTo>
                    <a:pt x="1279271" y="0"/>
                    <a:pt x="1345946" y="64008"/>
                    <a:pt x="1345946" y="143510"/>
                  </a:cubicBezTo>
                  <a:lnTo>
                    <a:pt x="1339596" y="143510"/>
                  </a:lnTo>
                  <a:lnTo>
                    <a:pt x="1345946" y="143510"/>
                  </a:lnTo>
                  <a:lnTo>
                    <a:pt x="1339596" y="143510"/>
                  </a:lnTo>
                  <a:lnTo>
                    <a:pt x="1345946" y="143510"/>
                  </a:lnTo>
                  <a:cubicBezTo>
                    <a:pt x="1345946" y="223012"/>
                    <a:pt x="1279271" y="287020"/>
                    <a:pt x="1197483" y="287020"/>
                  </a:cubicBezTo>
                  <a:lnTo>
                    <a:pt x="1197483" y="280670"/>
                  </a:lnTo>
                  <a:lnTo>
                    <a:pt x="1197483" y="287020"/>
                  </a:lnTo>
                  <a:lnTo>
                    <a:pt x="148463" y="287020"/>
                  </a:lnTo>
                  <a:lnTo>
                    <a:pt x="148463" y="280670"/>
                  </a:lnTo>
                  <a:lnTo>
                    <a:pt x="148463" y="287020"/>
                  </a:lnTo>
                  <a:cubicBezTo>
                    <a:pt x="66675" y="286893"/>
                    <a:pt x="0" y="222885"/>
                    <a:pt x="0" y="143510"/>
                  </a:cubicBezTo>
                  <a:lnTo>
                    <a:pt x="6350" y="143510"/>
                  </a:lnTo>
                  <a:lnTo>
                    <a:pt x="0" y="143510"/>
                  </a:lnTo>
                  <a:moveTo>
                    <a:pt x="12700" y="143510"/>
                  </a:moveTo>
                  <a:lnTo>
                    <a:pt x="6350" y="143510"/>
                  </a:lnTo>
                  <a:lnTo>
                    <a:pt x="12700" y="143510"/>
                  </a:lnTo>
                  <a:cubicBezTo>
                    <a:pt x="12700" y="215519"/>
                    <a:pt x="73279" y="274320"/>
                    <a:pt x="148463" y="274320"/>
                  </a:cubicBezTo>
                  <a:lnTo>
                    <a:pt x="1197483" y="274320"/>
                  </a:lnTo>
                  <a:cubicBezTo>
                    <a:pt x="1272667" y="274320"/>
                    <a:pt x="1333246" y="215519"/>
                    <a:pt x="1333246" y="143510"/>
                  </a:cubicBezTo>
                  <a:cubicBezTo>
                    <a:pt x="1333246" y="71501"/>
                    <a:pt x="1272794" y="12700"/>
                    <a:pt x="1197483" y="12700"/>
                  </a:cubicBezTo>
                  <a:lnTo>
                    <a:pt x="148463" y="12700"/>
                  </a:lnTo>
                  <a:lnTo>
                    <a:pt x="148463" y="6350"/>
                  </a:lnTo>
                  <a:lnTo>
                    <a:pt x="148463" y="12700"/>
                  </a:lnTo>
                  <a:cubicBezTo>
                    <a:pt x="73279" y="12700"/>
                    <a:pt x="12700" y="71501"/>
                    <a:pt x="12700" y="14351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229002" y="2920603"/>
            <a:ext cx="114300" cy="114300"/>
            <a:chOff x="0" y="0"/>
            <a:chExt cx="152400" cy="1524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381402" y="2874912"/>
            <a:ext cx="714223" cy="177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"/>
              </a:lnSpc>
            </a:pPr>
            <a:r>
              <a:rPr lang="en-US" sz="875">
                <a:solidFill>
                  <a:srgbClr val="443728"/>
                </a:solidFill>
                <a:latin typeface="Arimo"/>
                <a:ea typeface="Arimo"/>
                <a:cs typeface="Arimo"/>
                <a:sym typeface="Arimo"/>
              </a:rPr>
              <a:t>MLP Baseline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5804" y="3175845"/>
            <a:ext cx="7868545" cy="4105723"/>
            <a:chOff x="0" y="0"/>
            <a:chExt cx="10491394" cy="5474297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491343" cy="5474335"/>
            </a:xfrm>
            <a:custGeom>
              <a:avLst/>
              <a:gdLst/>
              <a:ahLst/>
              <a:cxnLst/>
              <a:rect r="r" b="b" t="t" l="l"/>
              <a:pathLst>
                <a:path h="5474335" w="10491343">
                  <a:moveTo>
                    <a:pt x="0" y="0"/>
                  </a:moveTo>
                  <a:lnTo>
                    <a:pt x="10491343" y="0"/>
                  </a:lnTo>
                  <a:lnTo>
                    <a:pt x="10491343" y="5474335"/>
                  </a:lnTo>
                  <a:lnTo>
                    <a:pt x="0" y="5474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770040" y="6375768"/>
            <a:ext cx="176127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300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98413" y="3420637"/>
            <a:ext cx="11212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92403" y="6587938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58797" y="6549600"/>
            <a:ext cx="176127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84781" y="6492326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81160" y="6504499"/>
            <a:ext cx="116148" cy="12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"/>
              </a:lnSpc>
            </a:pPr>
            <a:r>
              <a:rPr lang="en-US" sz="81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78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83176" y="2814047"/>
            <a:ext cx="3377956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Key Findings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78413" y="3549853"/>
            <a:ext cx="3815058" cy="3359648"/>
            <a:chOff x="0" y="0"/>
            <a:chExt cx="5086744" cy="447953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" y="6350"/>
              <a:ext cx="5074031" cy="4466844"/>
            </a:xfrm>
            <a:custGeom>
              <a:avLst/>
              <a:gdLst/>
              <a:ahLst/>
              <a:cxnLst/>
              <a:rect r="r" b="b" t="t" l="l"/>
              <a:pathLst>
                <a:path h="4466844" w="5074031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922647" y="0"/>
                  </a:lnTo>
                  <a:cubicBezTo>
                    <a:pt x="5006213" y="0"/>
                    <a:pt x="5074031" y="67818"/>
                    <a:pt x="5074031" y="151384"/>
                  </a:cubicBezTo>
                  <a:lnTo>
                    <a:pt x="5074031" y="4315460"/>
                  </a:lnTo>
                  <a:cubicBezTo>
                    <a:pt x="5074031" y="4399026"/>
                    <a:pt x="5006213" y="4466844"/>
                    <a:pt x="4922647" y="4466844"/>
                  </a:cubicBezTo>
                  <a:lnTo>
                    <a:pt x="151384" y="4466844"/>
                  </a:lnTo>
                  <a:cubicBezTo>
                    <a:pt x="67818" y="4466844"/>
                    <a:pt x="0" y="4399026"/>
                    <a:pt x="0" y="431546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6731" cy="4479544"/>
            </a:xfrm>
            <a:custGeom>
              <a:avLst/>
              <a:gdLst/>
              <a:ahLst/>
              <a:cxnLst/>
              <a:rect r="r" b="b" t="t" l="l"/>
              <a:pathLst>
                <a:path h="4479544" w="5086731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4928997" y="0"/>
                  </a:lnTo>
                  <a:lnTo>
                    <a:pt x="4928997" y="6350"/>
                  </a:lnTo>
                  <a:lnTo>
                    <a:pt x="4928997" y="0"/>
                  </a:lnTo>
                  <a:cubicBezTo>
                    <a:pt x="5016119" y="0"/>
                    <a:pt x="5086731" y="70612"/>
                    <a:pt x="5086731" y="157734"/>
                  </a:cubicBezTo>
                  <a:lnTo>
                    <a:pt x="5080381" y="157734"/>
                  </a:lnTo>
                  <a:lnTo>
                    <a:pt x="5086731" y="157734"/>
                  </a:lnTo>
                  <a:lnTo>
                    <a:pt x="5086731" y="4321810"/>
                  </a:lnTo>
                  <a:lnTo>
                    <a:pt x="5080381" y="4321810"/>
                  </a:lnTo>
                  <a:lnTo>
                    <a:pt x="5086731" y="4321810"/>
                  </a:lnTo>
                  <a:cubicBezTo>
                    <a:pt x="5086731" y="4408932"/>
                    <a:pt x="5016119" y="4479544"/>
                    <a:pt x="4928997" y="4479544"/>
                  </a:cubicBezTo>
                  <a:lnTo>
                    <a:pt x="4928997" y="4473194"/>
                  </a:lnTo>
                  <a:lnTo>
                    <a:pt x="4928997" y="4479544"/>
                  </a:lnTo>
                  <a:lnTo>
                    <a:pt x="157734" y="4479544"/>
                  </a:lnTo>
                  <a:lnTo>
                    <a:pt x="157734" y="4473194"/>
                  </a:lnTo>
                  <a:lnTo>
                    <a:pt x="157734" y="4479544"/>
                  </a:lnTo>
                  <a:cubicBezTo>
                    <a:pt x="70612" y="4479544"/>
                    <a:pt x="0" y="4408932"/>
                    <a:pt x="0" y="4321810"/>
                  </a:cubicBezTo>
                  <a:lnTo>
                    <a:pt x="0" y="157734"/>
                  </a:lnTo>
                  <a:lnTo>
                    <a:pt x="6350" y="157734"/>
                  </a:lnTo>
                  <a:lnTo>
                    <a:pt x="0" y="157734"/>
                  </a:lnTo>
                  <a:moveTo>
                    <a:pt x="12700" y="157734"/>
                  </a:moveTo>
                  <a:lnTo>
                    <a:pt x="12700" y="4321810"/>
                  </a:lnTo>
                  <a:lnTo>
                    <a:pt x="6350" y="4321810"/>
                  </a:lnTo>
                  <a:lnTo>
                    <a:pt x="12700" y="4321810"/>
                  </a:lnTo>
                  <a:cubicBezTo>
                    <a:pt x="12700" y="4401820"/>
                    <a:pt x="77597" y="4466844"/>
                    <a:pt x="157734" y="4466844"/>
                  </a:cubicBezTo>
                  <a:lnTo>
                    <a:pt x="4928997" y="4466844"/>
                  </a:lnTo>
                  <a:cubicBezTo>
                    <a:pt x="5009134" y="4466844"/>
                    <a:pt x="5074031" y="4401947"/>
                    <a:pt x="5074031" y="4321810"/>
                  </a:cubicBezTo>
                  <a:lnTo>
                    <a:pt x="5074031" y="157734"/>
                  </a:lnTo>
                  <a:cubicBezTo>
                    <a:pt x="5074031" y="77724"/>
                    <a:pt x="5009134" y="12700"/>
                    <a:pt x="4928997" y="12700"/>
                  </a:cubicBezTo>
                  <a:lnTo>
                    <a:pt x="157734" y="12700"/>
                  </a:lnTo>
                  <a:lnTo>
                    <a:pt x="157734" y="6350"/>
                  </a:lnTo>
                  <a:lnTo>
                    <a:pt x="157734" y="12700"/>
                  </a:lnTo>
                  <a:cubicBezTo>
                    <a:pt x="77597" y="12700"/>
                    <a:pt x="12700" y="77597"/>
                    <a:pt x="12700" y="15773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62830" y="3805685"/>
            <a:ext cx="3246234" cy="87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6.7× Faster Convergence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62830" y="4859979"/>
            <a:ext cx="3246234" cy="176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GNN stabilizes at </a:t>
            </a:r>
            <a:r>
              <a:rPr lang="en-US" sz="2125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300K steps</a:t>
            </a:r>
            <a:r>
              <a:rPr lang="en-US" sz="21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vs. 2M for MLP — relational bias accelerates learning.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541426" y="3549853"/>
            <a:ext cx="3815058" cy="3359648"/>
            <a:chOff x="0" y="0"/>
            <a:chExt cx="5086744" cy="44795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" y="6350"/>
              <a:ext cx="5074031" cy="4466844"/>
            </a:xfrm>
            <a:custGeom>
              <a:avLst/>
              <a:gdLst/>
              <a:ahLst/>
              <a:cxnLst/>
              <a:rect r="r" b="b" t="t" l="l"/>
              <a:pathLst>
                <a:path h="4466844" w="5074031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922647" y="0"/>
                  </a:lnTo>
                  <a:cubicBezTo>
                    <a:pt x="5006213" y="0"/>
                    <a:pt x="5074031" y="67818"/>
                    <a:pt x="5074031" y="151384"/>
                  </a:cubicBezTo>
                  <a:lnTo>
                    <a:pt x="5074031" y="4315460"/>
                  </a:lnTo>
                  <a:cubicBezTo>
                    <a:pt x="5074031" y="4399026"/>
                    <a:pt x="5006213" y="4466844"/>
                    <a:pt x="4922647" y="4466844"/>
                  </a:cubicBezTo>
                  <a:lnTo>
                    <a:pt x="151384" y="4466844"/>
                  </a:lnTo>
                  <a:cubicBezTo>
                    <a:pt x="67818" y="4466844"/>
                    <a:pt x="0" y="4399026"/>
                    <a:pt x="0" y="431546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6731" cy="4479544"/>
            </a:xfrm>
            <a:custGeom>
              <a:avLst/>
              <a:gdLst/>
              <a:ahLst/>
              <a:cxnLst/>
              <a:rect r="r" b="b" t="t" l="l"/>
              <a:pathLst>
                <a:path h="4479544" w="5086731">
                  <a:moveTo>
                    <a:pt x="0" y="157734"/>
                  </a:moveTo>
                  <a:cubicBezTo>
                    <a:pt x="0" y="70612"/>
                    <a:pt x="70612" y="0"/>
                    <a:pt x="157734" y="0"/>
                  </a:cubicBezTo>
                  <a:lnTo>
                    <a:pt x="4928997" y="0"/>
                  </a:lnTo>
                  <a:lnTo>
                    <a:pt x="4928997" y="6350"/>
                  </a:lnTo>
                  <a:lnTo>
                    <a:pt x="4928997" y="0"/>
                  </a:lnTo>
                  <a:cubicBezTo>
                    <a:pt x="5016119" y="0"/>
                    <a:pt x="5086731" y="70612"/>
                    <a:pt x="5086731" y="157734"/>
                  </a:cubicBezTo>
                  <a:lnTo>
                    <a:pt x="5080381" y="157734"/>
                  </a:lnTo>
                  <a:lnTo>
                    <a:pt x="5086731" y="157734"/>
                  </a:lnTo>
                  <a:lnTo>
                    <a:pt x="5086731" y="4321810"/>
                  </a:lnTo>
                  <a:lnTo>
                    <a:pt x="5080381" y="4321810"/>
                  </a:lnTo>
                  <a:lnTo>
                    <a:pt x="5086731" y="4321810"/>
                  </a:lnTo>
                  <a:cubicBezTo>
                    <a:pt x="5086731" y="4408932"/>
                    <a:pt x="5016119" y="4479544"/>
                    <a:pt x="4928997" y="4479544"/>
                  </a:cubicBezTo>
                  <a:lnTo>
                    <a:pt x="4928997" y="4473194"/>
                  </a:lnTo>
                  <a:lnTo>
                    <a:pt x="4928997" y="4479544"/>
                  </a:lnTo>
                  <a:lnTo>
                    <a:pt x="157734" y="4479544"/>
                  </a:lnTo>
                  <a:lnTo>
                    <a:pt x="157734" y="4473194"/>
                  </a:lnTo>
                  <a:lnTo>
                    <a:pt x="157734" y="4479544"/>
                  </a:lnTo>
                  <a:cubicBezTo>
                    <a:pt x="70612" y="4479544"/>
                    <a:pt x="0" y="4408932"/>
                    <a:pt x="0" y="4321810"/>
                  </a:cubicBezTo>
                  <a:lnTo>
                    <a:pt x="0" y="157734"/>
                  </a:lnTo>
                  <a:lnTo>
                    <a:pt x="6350" y="157734"/>
                  </a:lnTo>
                  <a:lnTo>
                    <a:pt x="0" y="157734"/>
                  </a:lnTo>
                  <a:moveTo>
                    <a:pt x="12700" y="157734"/>
                  </a:moveTo>
                  <a:lnTo>
                    <a:pt x="12700" y="4321810"/>
                  </a:lnTo>
                  <a:lnTo>
                    <a:pt x="6350" y="4321810"/>
                  </a:lnTo>
                  <a:lnTo>
                    <a:pt x="12700" y="4321810"/>
                  </a:lnTo>
                  <a:cubicBezTo>
                    <a:pt x="12700" y="4401820"/>
                    <a:pt x="77597" y="4466844"/>
                    <a:pt x="157734" y="4466844"/>
                  </a:cubicBezTo>
                  <a:lnTo>
                    <a:pt x="4928997" y="4466844"/>
                  </a:lnTo>
                  <a:cubicBezTo>
                    <a:pt x="5009134" y="4466844"/>
                    <a:pt x="5074031" y="4401947"/>
                    <a:pt x="5074031" y="4321810"/>
                  </a:cubicBezTo>
                  <a:lnTo>
                    <a:pt x="5074031" y="157734"/>
                  </a:lnTo>
                  <a:cubicBezTo>
                    <a:pt x="5074031" y="77724"/>
                    <a:pt x="5009134" y="12700"/>
                    <a:pt x="4928997" y="12700"/>
                  </a:cubicBezTo>
                  <a:lnTo>
                    <a:pt x="157734" y="12700"/>
                  </a:lnTo>
                  <a:lnTo>
                    <a:pt x="157734" y="6350"/>
                  </a:lnTo>
                  <a:lnTo>
                    <a:pt x="157734" y="12700"/>
                  </a:lnTo>
                  <a:cubicBezTo>
                    <a:pt x="77597" y="12700"/>
                    <a:pt x="12700" y="77597"/>
                    <a:pt x="12700" y="15773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825833" y="3805685"/>
            <a:ext cx="3246234" cy="873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85% Fewer Parameters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25833" y="4859979"/>
            <a:ext cx="3246234" cy="1765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29,572 vs. ~200,000 — same reward with a fraction of the model size.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478413" y="7157447"/>
            <a:ext cx="7878070" cy="2092966"/>
            <a:chOff x="0" y="0"/>
            <a:chExt cx="10504094" cy="27906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10491470" cy="2777998"/>
            </a:xfrm>
            <a:custGeom>
              <a:avLst/>
              <a:gdLst/>
              <a:ahLst/>
              <a:cxnLst/>
              <a:rect r="r" b="b" t="t" l="l"/>
              <a:pathLst>
                <a:path h="2777998" w="10491470">
                  <a:moveTo>
                    <a:pt x="0" y="151384"/>
                  </a:moveTo>
                  <a:cubicBezTo>
                    <a:pt x="0" y="67818"/>
                    <a:pt x="67945" y="0"/>
                    <a:pt x="151892" y="0"/>
                  </a:cubicBezTo>
                  <a:lnTo>
                    <a:pt x="10339578" y="0"/>
                  </a:lnTo>
                  <a:cubicBezTo>
                    <a:pt x="10423398" y="0"/>
                    <a:pt x="10491470" y="67818"/>
                    <a:pt x="10491470" y="151384"/>
                  </a:cubicBezTo>
                  <a:lnTo>
                    <a:pt x="10491470" y="2626614"/>
                  </a:lnTo>
                  <a:cubicBezTo>
                    <a:pt x="10491470" y="2710180"/>
                    <a:pt x="10423525" y="2777998"/>
                    <a:pt x="10339578" y="2777998"/>
                  </a:cubicBezTo>
                  <a:lnTo>
                    <a:pt x="151892" y="2777998"/>
                  </a:lnTo>
                  <a:cubicBezTo>
                    <a:pt x="67945" y="2777871"/>
                    <a:pt x="0" y="2710180"/>
                    <a:pt x="0" y="262661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04170" cy="2790698"/>
            </a:xfrm>
            <a:custGeom>
              <a:avLst/>
              <a:gdLst/>
              <a:ahLst/>
              <a:cxnLst/>
              <a:rect r="r" b="b" t="t" l="l"/>
              <a:pathLst>
                <a:path h="2790698" w="10504170">
                  <a:moveTo>
                    <a:pt x="0" y="157734"/>
                  </a:moveTo>
                  <a:cubicBezTo>
                    <a:pt x="0" y="70612"/>
                    <a:pt x="70866" y="0"/>
                    <a:pt x="158242" y="0"/>
                  </a:cubicBezTo>
                  <a:lnTo>
                    <a:pt x="10345928" y="0"/>
                  </a:lnTo>
                  <a:lnTo>
                    <a:pt x="10345928" y="6350"/>
                  </a:lnTo>
                  <a:lnTo>
                    <a:pt x="10345928" y="0"/>
                  </a:lnTo>
                  <a:cubicBezTo>
                    <a:pt x="10433304" y="0"/>
                    <a:pt x="10504170" y="70612"/>
                    <a:pt x="10504170" y="157734"/>
                  </a:cubicBezTo>
                  <a:lnTo>
                    <a:pt x="10497820" y="157734"/>
                  </a:lnTo>
                  <a:lnTo>
                    <a:pt x="10504170" y="157734"/>
                  </a:lnTo>
                  <a:lnTo>
                    <a:pt x="10504170" y="2632964"/>
                  </a:lnTo>
                  <a:lnTo>
                    <a:pt x="10497820" y="2632964"/>
                  </a:lnTo>
                  <a:lnTo>
                    <a:pt x="10504170" y="2632964"/>
                  </a:lnTo>
                  <a:cubicBezTo>
                    <a:pt x="10504170" y="2720086"/>
                    <a:pt x="10433304" y="2790698"/>
                    <a:pt x="10345928" y="2790698"/>
                  </a:cubicBezTo>
                  <a:lnTo>
                    <a:pt x="10345928" y="2784348"/>
                  </a:lnTo>
                  <a:lnTo>
                    <a:pt x="10345928" y="2790698"/>
                  </a:lnTo>
                  <a:lnTo>
                    <a:pt x="158242" y="2790698"/>
                  </a:lnTo>
                  <a:lnTo>
                    <a:pt x="158242" y="2784348"/>
                  </a:lnTo>
                  <a:lnTo>
                    <a:pt x="158242" y="2790698"/>
                  </a:lnTo>
                  <a:cubicBezTo>
                    <a:pt x="70866" y="2790571"/>
                    <a:pt x="0" y="2720086"/>
                    <a:pt x="0" y="2632964"/>
                  </a:cubicBezTo>
                  <a:lnTo>
                    <a:pt x="0" y="157734"/>
                  </a:lnTo>
                  <a:lnTo>
                    <a:pt x="6350" y="157734"/>
                  </a:lnTo>
                  <a:lnTo>
                    <a:pt x="0" y="157734"/>
                  </a:lnTo>
                  <a:moveTo>
                    <a:pt x="12700" y="157734"/>
                  </a:moveTo>
                  <a:lnTo>
                    <a:pt x="12700" y="2632964"/>
                  </a:lnTo>
                  <a:lnTo>
                    <a:pt x="6350" y="2632964"/>
                  </a:lnTo>
                  <a:lnTo>
                    <a:pt x="12700" y="2632964"/>
                  </a:lnTo>
                  <a:cubicBezTo>
                    <a:pt x="12700" y="2712974"/>
                    <a:pt x="77851" y="2777998"/>
                    <a:pt x="158242" y="2777998"/>
                  </a:cubicBezTo>
                  <a:lnTo>
                    <a:pt x="10345928" y="2777998"/>
                  </a:lnTo>
                  <a:cubicBezTo>
                    <a:pt x="10426319" y="2777998"/>
                    <a:pt x="10491470" y="2713101"/>
                    <a:pt x="10491470" y="2632964"/>
                  </a:cubicBezTo>
                  <a:lnTo>
                    <a:pt x="10491470" y="157734"/>
                  </a:lnTo>
                  <a:cubicBezTo>
                    <a:pt x="10491470" y="77724"/>
                    <a:pt x="10426319" y="12700"/>
                    <a:pt x="10345928" y="12700"/>
                  </a:cubicBezTo>
                  <a:lnTo>
                    <a:pt x="158242" y="12700"/>
                  </a:lnTo>
                  <a:lnTo>
                    <a:pt x="158242" y="6350"/>
                  </a:lnTo>
                  <a:lnTo>
                    <a:pt x="158242" y="12700"/>
                  </a:lnTo>
                  <a:cubicBezTo>
                    <a:pt x="77851" y="12700"/>
                    <a:pt x="12700" y="77597"/>
                    <a:pt x="12700" y="15773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762830" y="7413279"/>
            <a:ext cx="3435991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Superior Generalization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62830" y="8045348"/>
            <a:ext cx="7309247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Only GNN transfers zero-shot to unseen morphologies. MLP fails completely.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58000" cy="10288191"/>
            <a:chOff x="0" y="0"/>
            <a:chExt cx="9144000" cy="137175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" t="0" r="-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88326" y="730891"/>
            <a:ext cx="2552405" cy="488747"/>
            <a:chOff x="0" y="0"/>
            <a:chExt cx="3403206" cy="6516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03219" cy="651764"/>
            </a:xfrm>
            <a:custGeom>
              <a:avLst/>
              <a:gdLst/>
              <a:ahLst/>
              <a:cxnLst/>
              <a:rect r="r" b="b" t="t" l="l"/>
              <a:pathLst>
                <a:path h="651764" w="3403219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3284093" y="0"/>
                  </a:lnTo>
                  <a:cubicBezTo>
                    <a:pt x="3349879" y="0"/>
                    <a:pt x="3403219" y="53340"/>
                    <a:pt x="3403219" y="119126"/>
                  </a:cubicBezTo>
                  <a:lnTo>
                    <a:pt x="3403219" y="532638"/>
                  </a:lnTo>
                  <a:cubicBezTo>
                    <a:pt x="3403219" y="598424"/>
                    <a:pt x="3349879" y="651764"/>
                    <a:pt x="3284093" y="651764"/>
                  </a:cubicBezTo>
                  <a:lnTo>
                    <a:pt x="119126" y="651764"/>
                  </a:lnTo>
                  <a:cubicBezTo>
                    <a:pt x="53340" y="651637"/>
                    <a:pt x="0" y="598297"/>
                    <a:pt x="0" y="532638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47717" y="753370"/>
            <a:ext cx="2233612" cy="38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ZERO-SHOT TRANSFER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88326" y="1281112"/>
            <a:ext cx="9569348" cy="169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"Wow" Result: Quadruped → Hexapod, Zero Retraining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88326" y="3296993"/>
            <a:ext cx="9569348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policy trained exclusively on the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12-joint ANYmal quadruped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successfully controls an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18-joint hexapod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— with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zero gradient updates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83563" y="4453528"/>
            <a:ext cx="9578873" cy="5108524"/>
            <a:chOff x="0" y="0"/>
            <a:chExt cx="12771831" cy="6811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2759182" cy="6798690"/>
            </a:xfrm>
            <a:custGeom>
              <a:avLst/>
              <a:gdLst/>
              <a:ahLst/>
              <a:cxnLst/>
              <a:rect r="r" b="b" t="t" l="l"/>
              <a:pathLst>
                <a:path h="6798690" w="12759182">
                  <a:moveTo>
                    <a:pt x="0" y="148844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12610211" y="0"/>
                  </a:lnTo>
                  <a:cubicBezTo>
                    <a:pt x="12692507" y="0"/>
                    <a:pt x="12759182" y="66675"/>
                    <a:pt x="12759182" y="148844"/>
                  </a:cubicBezTo>
                  <a:lnTo>
                    <a:pt x="12759182" y="6649847"/>
                  </a:lnTo>
                  <a:cubicBezTo>
                    <a:pt x="12759182" y="6732015"/>
                    <a:pt x="12692507" y="6798690"/>
                    <a:pt x="12610211" y="6798690"/>
                  </a:cubicBezTo>
                  <a:lnTo>
                    <a:pt x="148971" y="6798690"/>
                  </a:lnTo>
                  <a:cubicBezTo>
                    <a:pt x="66675" y="6798691"/>
                    <a:pt x="0" y="6732016"/>
                    <a:pt x="0" y="6649847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71882" cy="6811390"/>
            </a:xfrm>
            <a:custGeom>
              <a:avLst/>
              <a:gdLst/>
              <a:ahLst/>
              <a:cxnLst/>
              <a:rect r="r" b="b" t="t" l="l"/>
              <a:pathLst>
                <a:path h="6811390" w="12771882">
                  <a:moveTo>
                    <a:pt x="0" y="155194"/>
                  </a:moveTo>
                  <a:cubicBezTo>
                    <a:pt x="0" y="69469"/>
                    <a:pt x="69596" y="0"/>
                    <a:pt x="155321" y="0"/>
                  </a:cubicBezTo>
                  <a:lnTo>
                    <a:pt x="12616561" y="0"/>
                  </a:lnTo>
                  <a:lnTo>
                    <a:pt x="12616561" y="6350"/>
                  </a:lnTo>
                  <a:lnTo>
                    <a:pt x="12616561" y="0"/>
                  </a:lnTo>
                  <a:cubicBezTo>
                    <a:pt x="12702286" y="0"/>
                    <a:pt x="12771882" y="69469"/>
                    <a:pt x="12771882" y="155194"/>
                  </a:cubicBezTo>
                  <a:lnTo>
                    <a:pt x="12765532" y="155194"/>
                  </a:lnTo>
                  <a:lnTo>
                    <a:pt x="12771882" y="155194"/>
                  </a:lnTo>
                  <a:lnTo>
                    <a:pt x="12771882" y="6656197"/>
                  </a:lnTo>
                  <a:lnTo>
                    <a:pt x="12765532" y="6656197"/>
                  </a:lnTo>
                  <a:lnTo>
                    <a:pt x="12771882" y="6656197"/>
                  </a:lnTo>
                  <a:cubicBezTo>
                    <a:pt x="12771882" y="6741922"/>
                    <a:pt x="12702286" y="6811390"/>
                    <a:pt x="12616561" y="6811390"/>
                  </a:cubicBezTo>
                  <a:lnTo>
                    <a:pt x="12616561" y="6805040"/>
                  </a:lnTo>
                  <a:lnTo>
                    <a:pt x="12616561" y="6811390"/>
                  </a:lnTo>
                  <a:lnTo>
                    <a:pt x="155321" y="6811390"/>
                  </a:lnTo>
                  <a:lnTo>
                    <a:pt x="155321" y="6805040"/>
                  </a:lnTo>
                  <a:lnTo>
                    <a:pt x="155321" y="6811390"/>
                  </a:lnTo>
                  <a:cubicBezTo>
                    <a:pt x="69596" y="6811391"/>
                    <a:pt x="0" y="6741922"/>
                    <a:pt x="0" y="6656197"/>
                  </a:cubicBezTo>
                  <a:lnTo>
                    <a:pt x="0" y="155194"/>
                  </a:lnTo>
                  <a:lnTo>
                    <a:pt x="6350" y="155194"/>
                  </a:lnTo>
                  <a:lnTo>
                    <a:pt x="0" y="155194"/>
                  </a:lnTo>
                  <a:moveTo>
                    <a:pt x="12700" y="155194"/>
                  </a:moveTo>
                  <a:lnTo>
                    <a:pt x="12700" y="6656197"/>
                  </a:lnTo>
                  <a:lnTo>
                    <a:pt x="6350" y="6656197"/>
                  </a:lnTo>
                  <a:lnTo>
                    <a:pt x="12700" y="6656197"/>
                  </a:lnTo>
                  <a:cubicBezTo>
                    <a:pt x="12700" y="6734937"/>
                    <a:pt x="76581" y="6798690"/>
                    <a:pt x="155321" y="6798690"/>
                  </a:cubicBezTo>
                  <a:lnTo>
                    <a:pt x="12616561" y="6798690"/>
                  </a:lnTo>
                  <a:cubicBezTo>
                    <a:pt x="12695301" y="6798690"/>
                    <a:pt x="12759182" y="6734937"/>
                    <a:pt x="12759182" y="6656197"/>
                  </a:cubicBezTo>
                  <a:lnTo>
                    <a:pt x="12759182" y="155194"/>
                  </a:lnTo>
                  <a:cubicBezTo>
                    <a:pt x="12759182" y="76454"/>
                    <a:pt x="12695301" y="12700"/>
                    <a:pt x="12616561" y="12700"/>
                  </a:cubicBezTo>
                  <a:lnTo>
                    <a:pt x="155321" y="12700"/>
                  </a:lnTo>
                  <a:lnTo>
                    <a:pt x="155321" y="6350"/>
                  </a:lnTo>
                  <a:lnTo>
                    <a:pt x="155321" y="12700"/>
                  </a:lnTo>
                  <a:cubicBezTo>
                    <a:pt x="76581" y="12700"/>
                    <a:pt x="12700" y="76454"/>
                    <a:pt x="12700" y="15519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97851" y="4467816"/>
            <a:ext cx="4775149" cy="3159623"/>
            <a:chOff x="0" y="0"/>
            <a:chExt cx="6366866" cy="42128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66891" cy="4212844"/>
            </a:xfrm>
            <a:custGeom>
              <a:avLst/>
              <a:gdLst/>
              <a:ahLst/>
              <a:cxnLst/>
              <a:rect r="r" b="b" t="t" l="l"/>
              <a:pathLst>
                <a:path h="4212844" w="6366891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6218047" y="0"/>
                  </a:lnTo>
                  <a:cubicBezTo>
                    <a:pt x="6300216" y="0"/>
                    <a:pt x="6366891" y="66675"/>
                    <a:pt x="6366891" y="148844"/>
                  </a:cubicBezTo>
                  <a:lnTo>
                    <a:pt x="6366891" y="4064000"/>
                  </a:lnTo>
                  <a:cubicBezTo>
                    <a:pt x="6366891" y="4146169"/>
                    <a:pt x="6300216" y="4212844"/>
                    <a:pt x="6218047" y="4212844"/>
                  </a:cubicBezTo>
                  <a:lnTo>
                    <a:pt x="148844" y="4212844"/>
                  </a:lnTo>
                  <a:cubicBezTo>
                    <a:pt x="66675" y="4212844"/>
                    <a:pt x="0" y="4146169"/>
                    <a:pt x="0" y="406400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063655" y="4705055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Algorithmic Padding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63655" y="5241284"/>
            <a:ext cx="424354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Extra hexapod joints are padded with null proprioceptive signals. The GNN's attention mechanism learns to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ignore inactive nodes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573000" y="4467816"/>
            <a:ext cx="4775149" cy="3159623"/>
            <a:chOff x="0" y="0"/>
            <a:chExt cx="6366866" cy="42128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66891" cy="4212844"/>
            </a:xfrm>
            <a:custGeom>
              <a:avLst/>
              <a:gdLst/>
              <a:ahLst/>
              <a:cxnLst/>
              <a:rect r="r" b="b" t="t" l="l"/>
              <a:pathLst>
                <a:path h="4212844" w="6366891">
                  <a:moveTo>
                    <a:pt x="0" y="0"/>
                  </a:moveTo>
                  <a:lnTo>
                    <a:pt x="6366891" y="0"/>
                  </a:lnTo>
                  <a:lnTo>
                    <a:pt x="6366891" y="4212844"/>
                  </a:lnTo>
                  <a:lnTo>
                    <a:pt x="0" y="4212844"/>
                  </a:ln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3000" y="4467816"/>
            <a:ext cx="28575" cy="3159623"/>
            <a:chOff x="0" y="0"/>
            <a:chExt cx="38100" cy="4212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00" cy="4212844"/>
            </a:xfrm>
            <a:custGeom>
              <a:avLst/>
              <a:gdLst/>
              <a:ahLst/>
              <a:cxnLst/>
              <a:rect r="r" b="b" t="t" l="l"/>
              <a:pathLst>
                <a:path h="421284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4193794"/>
                  </a:lnTo>
                  <a:cubicBezTo>
                    <a:pt x="38100" y="4204335"/>
                    <a:pt x="29591" y="4212844"/>
                    <a:pt x="19050" y="4212844"/>
                  </a:cubicBezTo>
                  <a:cubicBezTo>
                    <a:pt x="8509" y="4212844"/>
                    <a:pt x="0" y="4204335"/>
                    <a:pt x="0" y="419379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838805" y="4705055"/>
            <a:ext cx="4243540" cy="859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Graph Permutation Equivariance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8805" y="5656659"/>
            <a:ext cx="424354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GNNs are inherently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size-agnostic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— the same message-passing function applies regardless of graph cardinality.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797851" y="7627439"/>
            <a:ext cx="9550298" cy="1920326"/>
            <a:chOff x="0" y="0"/>
            <a:chExt cx="12733731" cy="25604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33782" cy="2560447"/>
            </a:xfrm>
            <a:custGeom>
              <a:avLst/>
              <a:gdLst/>
              <a:ahLst/>
              <a:cxnLst/>
              <a:rect r="r" b="b" t="t" l="l"/>
              <a:pathLst>
                <a:path h="2560447" w="12733782">
                  <a:moveTo>
                    <a:pt x="0" y="0"/>
                  </a:moveTo>
                  <a:lnTo>
                    <a:pt x="12733782" y="0"/>
                  </a:lnTo>
                  <a:lnTo>
                    <a:pt x="12733782" y="2560447"/>
                  </a:lnTo>
                  <a:lnTo>
                    <a:pt x="0" y="2560447"/>
                  </a:ln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797851" y="7627439"/>
            <a:ext cx="9550298" cy="28575"/>
            <a:chOff x="0" y="0"/>
            <a:chExt cx="12733731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733782" cy="38100"/>
            </a:xfrm>
            <a:custGeom>
              <a:avLst/>
              <a:gdLst/>
              <a:ahLst/>
              <a:cxnLst/>
              <a:rect r="r" b="b" t="t" l="l"/>
              <a:pathLst>
                <a:path h="38100" w="127337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714732" y="0"/>
                  </a:lnTo>
                  <a:cubicBezTo>
                    <a:pt x="12725273" y="0"/>
                    <a:pt x="12733782" y="8509"/>
                    <a:pt x="12733782" y="19050"/>
                  </a:cubicBezTo>
                  <a:cubicBezTo>
                    <a:pt x="12733782" y="29591"/>
                    <a:pt x="12725273" y="38100"/>
                    <a:pt x="127147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063655" y="7864678"/>
            <a:ext cx="3679774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Morphological Continuity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63655" y="8400898"/>
            <a:ext cx="9018689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Both robots share HAA/HFE/KFE joint taxonomy — the heterogeneous encoding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transfers directly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without adaptation.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249379" y="9663205"/>
            <a:ext cx="3038621" cy="538070"/>
            <a:chOff x="0" y="0"/>
            <a:chExt cx="800295" cy="14171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00295" cy="141714"/>
            </a:xfrm>
            <a:custGeom>
              <a:avLst/>
              <a:gdLst/>
              <a:ahLst/>
              <a:cxnLst/>
              <a:rect r="r" b="b" t="t" l="l"/>
              <a:pathLst>
                <a:path h="141714" w="800295">
                  <a:moveTo>
                    <a:pt x="0" y="0"/>
                  </a:moveTo>
                  <a:lnTo>
                    <a:pt x="800295" y="0"/>
                  </a:lnTo>
                  <a:lnTo>
                    <a:pt x="800295" y="141714"/>
                  </a:lnTo>
                  <a:lnTo>
                    <a:pt x="0" y="141714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00295" cy="198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1620736"/>
            <a:ext cx="2546594" cy="532809"/>
            <a:chOff x="0" y="0"/>
            <a:chExt cx="3395459" cy="710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95472" cy="710438"/>
            </a:xfrm>
            <a:custGeom>
              <a:avLst/>
              <a:gdLst/>
              <a:ahLst/>
              <a:cxnLst/>
              <a:rect r="r" b="b" t="t" l="l"/>
              <a:pathLst>
                <a:path h="710438" w="3395472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268472" y="0"/>
                  </a:lnTo>
                  <a:cubicBezTo>
                    <a:pt x="3338576" y="0"/>
                    <a:pt x="3395472" y="56896"/>
                    <a:pt x="3395472" y="127000"/>
                  </a:cubicBezTo>
                  <a:lnTo>
                    <a:pt x="3395472" y="583438"/>
                  </a:lnTo>
                  <a:cubicBezTo>
                    <a:pt x="3395472" y="653542"/>
                    <a:pt x="3338576" y="710438"/>
                    <a:pt x="3268472" y="710438"/>
                  </a:cubicBezTo>
                  <a:lnTo>
                    <a:pt x="127000" y="710438"/>
                  </a:lnTo>
                  <a:cubicBezTo>
                    <a:pt x="56896" y="710438"/>
                    <a:pt x="0" y="653542"/>
                    <a:pt x="0" y="583438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1639043"/>
            <a:ext cx="2206381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DEPLOYMENT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219325"/>
            <a:ext cx="13216528" cy="93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Full-Stack Deployment: ROS2 Jazzy Pipeline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578123"/>
            <a:ext cx="3014958" cy="1863328"/>
            <a:chOff x="0" y="0"/>
            <a:chExt cx="4019944" cy="248443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19931" cy="2484501"/>
            </a:xfrm>
            <a:custGeom>
              <a:avLst/>
              <a:gdLst/>
              <a:ahLst/>
              <a:cxnLst/>
              <a:rect r="r" b="b" t="t" l="l"/>
              <a:pathLst>
                <a:path h="248450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501"/>
                  </a:lnTo>
                  <a:lnTo>
                    <a:pt x="0" y="248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" r="0" b="-1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5767235"/>
            <a:ext cx="3571580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Vision Layer — YOLOv8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6323114"/>
            <a:ext cx="519826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Real-time object detection feeding spatial coordinates into the planning stack.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 FPS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on edge GPU.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44866" y="3578123"/>
            <a:ext cx="3014958" cy="1863328"/>
            <a:chOff x="0" y="0"/>
            <a:chExt cx="4019944" cy="2484438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4019931" cy="2484501"/>
            </a:xfrm>
            <a:custGeom>
              <a:avLst/>
              <a:gdLst/>
              <a:ahLst/>
              <a:cxnLst/>
              <a:rect r="r" b="b" t="t" l="l"/>
              <a:pathLst>
                <a:path h="248450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501"/>
                  </a:lnTo>
                  <a:lnTo>
                    <a:pt x="0" y="248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1" r="0" b="-18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544866" y="5767235"/>
            <a:ext cx="519826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Intelligence Layer — Ollama (Qwen 2.5)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44866" y="6766027"/>
            <a:ext cx="519826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LLM-based task decomposition: natural language commands → structured locomotion sub-goals via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chain-of-thought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prompting.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97493" y="3578123"/>
            <a:ext cx="3014958" cy="1863328"/>
            <a:chOff x="0" y="0"/>
            <a:chExt cx="4019944" cy="248443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4019931" cy="2484501"/>
            </a:xfrm>
            <a:custGeom>
              <a:avLst/>
              <a:gdLst/>
              <a:ahLst/>
              <a:cxnLst/>
              <a:rect r="r" b="b" t="t" l="l"/>
              <a:pathLst>
                <a:path h="2484501" w="4019931">
                  <a:moveTo>
                    <a:pt x="0" y="0"/>
                  </a:moveTo>
                  <a:lnTo>
                    <a:pt x="4019931" y="0"/>
                  </a:lnTo>
                  <a:lnTo>
                    <a:pt x="4019931" y="2484501"/>
                  </a:lnTo>
                  <a:lnTo>
                    <a:pt x="0" y="248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1" r="0" b="-1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97493" y="5767235"/>
            <a:ext cx="519826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Simulation Layer — Gazebo Harmonic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7493" y="6766027"/>
            <a:ext cx="5198269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ROS2 Jazzy-native simulation with </a:t>
            </a:r>
            <a:r>
              <a:rPr lang="en-US" sz="2187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high-fidelity physics</a:t>
            </a:r>
            <a:r>
              <a:rPr lang="en-US" sz="2187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and sensor plugins for sim-to-real domain randomization.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0326" y="766915"/>
            <a:ext cx="3408159" cy="488747"/>
            <a:chOff x="0" y="0"/>
            <a:chExt cx="4544212" cy="651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44314" cy="651764"/>
            </a:xfrm>
            <a:custGeom>
              <a:avLst/>
              <a:gdLst/>
              <a:ahLst/>
              <a:cxnLst/>
              <a:rect r="r" b="b" t="t" l="l"/>
              <a:pathLst>
                <a:path h="651764" w="4544314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lnTo>
                    <a:pt x="4425188" y="0"/>
                  </a:lnTo>
                  <a:cubicBezTo>
                    <a:pt x="4490974" y="0"/>
                    <a:pt x="4544314" y="53340"/>
                    <a:pt x="4544314" y="119126"/>
                  </a:cubicBezTo>
                  <a:lnTo>
                    <a:pt x="4544314" y="532638"/>
                  </a:lnTo>
                  <a:cubicBezTo>
                    <a:pt x="4544314" y="598424"/>
                    <a:pt x="4490974" y="651764"/>
                    <a:pt x="4425188" y="651764"/>
                  </a:cubicBezTo>
                  <a:lnTo>
                    <a:pt x="119126" y="651764"/>
                  </a:lnTo>
                  <a:cubicBezTo>
                    <a:pt x="53340" y="651637"/>
                    <a:pt x="0" y="598297"/>
                    <a:pt x="0" y="532638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89717" y="789384"/>
            <a:ext cx="3089377" cy="386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CONCLUSION &amp; FUTURE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326" y="1317127"/>
            <a:ext cx="8052349" cy="86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Summary &amp; The Road Ahead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9083" y="2559548"/>
            <a:ext cx="8272015" cy="6960546"/>
            <a:chOff x="0" y="0"/>
            <a:chExt cx="11029353" cy="92807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29442" cy="9280778"/>
            </a:xfrm>
            <a:custGeom>
              <a:avLst/>
              <a:gdLst/>
              <a:ahLst/>
              <a:cxnLst/>
              <a:rect r="r" b="b" t="t" l="l"/>
              <a:pathLst>
                <a:path h="9280778" w="11029442">
                  <a:moveTo>
                    <a:pt x="0" y="255270"/>
                  </a:moveTo>
                  <a:cubicBezTo>
                    <a:pt x="0" y="114300"/>
                    <a:pt x="114300" y="0"/>
                    <a:pt x="255270" y="0"/>
                  </a:cubicBezTo>
                  <a:lnTo>
                    <a:pt x="10774172" y="0"/>
                  </a:lnTo>
                  <a:cubicBezTo>
                    <a:pt x="10915142" y="0"/>
                    <a:pt x="11029442" y="114300"/>
                    <a:pt x="11029442" y="255270"/>
                  </a:cubicBezTo>
                  <a:lnTo>
                    <a:pt x="11029442" y="9025509"/>
                  </a:lnTo>
                  <a:cubicBezTo>
                    <a:pt x="11029442" y="9166478"/>
                    <a:pt x="10915142" y="9280778"/>
                    <a:pt x="10774172" y="9280778"/>
                  </a:cubicBezTo>
                  <a:lnTo>
                    <a:pt x="255270" y="9280778"/>
                  </a:lnTo>
                  <a:cubicBezTo>
                    <a:pt x="114300" y="9280778"/>
                    <a:pt x="0" y="9166478"/>
                    <a:pt x="0" y="9025509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04888" y="2780109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Core Contributions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888" y="3416056"/>
            <a:ext cx="7740406" cy="237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SlimHeteroGNN with heterogeneous GATv2 attention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85% parameter reduction vs. MLP baseline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6.7× faster convergence (300K vs. 2M steps)</a:t>
            </a:r>
          </a:p>
          <a:p>
            <a:pPr algn="l" marL="311051" indent="-155525" lvl="1">
              <a:lnSpc>
                <a:spcPts val="3187"/>
              </a:lnSpc>
              <a:buFont typeface="Arial"/>
              <a:buChar char="•"/>
            </a:pPr>
            <a:r>
              <a:rPr lang="en-US" sz="206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First zero-shot quadruped → hexapod transfer via graph padding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7670" y="2780109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Future Directions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72908" y="3499542"/>
            <a:ext cx="607514" cy="607514"/>
            <a:chOff x="0" y="0"/>
            <a:chExt cx="810019" cy="8100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797306" cy="797306"/>
            </a:xfrm>
            <a:custGeom>
              <a:avLst/>
              <a:gdLst/>
              <a:ahLst/>
              <a:cxnLst/>
              <a:rect r="r" b="b" t="t" l="l"/>
              <a:pathLst>
                <a:path h="797306" w="797306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648462" y="0"/>
                  </a:lnTo>
                  <a:cubicBezTo>
                    <a:pt x="730631" y="0"/>
                    <a:pt x="797306" y="66675"/>
                    <a:pt x="797306" y="148844"/>
                  </a:cubicBezTo>
                  <a:lnTo>
                    <a:pt x="797306" y="648462"/>
                  </a:lnTo>
                  <a:cubicBezTo>
                    <a:pt x="797306" y="730631"/>
                    <a:pt x="730631" y="797306"/>
                    <a:pt x="648462" y="797306"/>
                  </a:cubicBezTo>
                  <a:lnTo>
                    <a:pt x="148844" y="797306"/>
                  </a:lnTo>
                  <a:cubicBezTo>
                    <a:pt x="66675" y="797306"/>
                    <a:pt x="0" y="730631"/>
                    <a:pt x="0" y="648462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0006" cy="810006"/>
            </a:xfrm>
            <a:custGeom>
              <a:avLst/>
              <a:gdLst/>
              <a:ahLst/>
              <a:cxnLst/>
              <a:rect r="r" b="b" t="t" l="l"/>
              <a:pathLst>
                <a:path h="810006" w="810006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654812" y="0"/>
                  </a:lnTo>
                  <a:lnTo>
                    <a:pt x="654812" y="6350"/>
                  </a:lnTo>
                  <a:lnTo>
                    <a:pt x="654812" y="0"/>
                  </a:lnTo>
                  <a:cubicBezTo>
                    <a:pt x="740537" y="0"/>
                    <a:pt x="810006" y="69469"/>
                    <a:pt x="810006" y="155194"/>
                  </a:cubicBezTo>
                  <a:lnTo>
                    <a:pt x="803656" y="155194"/>
                  </a:lnTo>
                  <a:lnTo>
                    <a:pt x="810006" y="155194"/>
                  </a:lnTo>
                  <a:lnTo>
                    <a:pt x="810006" y="654812"/>
                  </a:lnTo>
                  <a:lnTo>
                    <a:pt x="803656" y="654812"/>
                  </a:lnTo>
                  <a:lnTo>
                    <a:pt x="810006" y="654812"/>
                  </a:lnTo>
                  <a:cubicBezTo>
                    <a:pt x="810006" y="740537"/>
                    <a:pt x="740537" y="810006"/>
                    <a:pt x="654812" y="810006"/>
                  </a:cubicBezTo>
                  <a:lnTo>
                    <a:pt x="654812" y="803656"/>
                  </a:lnTo>
                  <a:lnTo>
                    <a:pt x="654812" y="810006"/>
                  </a:lnTo>
                  <a:lnTo>
                    <a:pt x="155194" y="810006"/>
                  </a:lnTo>
                  <a:lnTo>
                    <a:pt x="155194" y="803656"/>
                  </a:lnTo>
                  <a:lnTo>
                    <a:pt x="155194" y="810006"/>
                  </a:lnTo>
                  <a:cubicBezTo>
                    <a:pt x="69469" y="810006"/>
                    <a:pt x="0" y="740537"/>
                    <a:pt x="0" y="654812"/>
                  </a:cubicBezTo>
                  <a:lnTo>
                    <a:pt x="0" y="155194"/>
                  </a:lnTo>
                  <a:lnTo>
                    <a:pt x="6350" y="155194"/>
                  </a:lnTo>
                  <a:lnTo>
                    <a:pt x="0" y="155194"/>
                  </a:lnTo>
                  <a:moveTo>
                    <a:pt x="12700" y="155194"/>
                  </a:moveTo>
                  <a:lnTo>
                    <a:pt x="12700" y="654812"/>
                  </a:lnTo>
                  <a:lnTo>
                    <a:pt x="6350" y="654812"/>
                  </a:lnTo>
                  <a:lnTo>
                    <a:pt x="12700" y="654812"/>
                  </a:lnTo>
                  <a:cubicBezTo>
                    <a:pt x="12700" y="733552"/>
                    <a:pt x="76454" y="797306"/>
                    <a:pt x="155194" y="797306"/>
                  </a:cubicBezTo>
                  <a:lnTo>
                    <a:pt x="654812" y="797306"/>
                  </a:lnTo>
                  <a:cubicBezTo>
                    <a:pt x="733552" y="797306"/>
                    <a:pt x="797306" y="733552"/>
                    <a:pt x="797306" y="654812"/>
                  </a:cubicBezTo>
                  <a:lnTo>
                    <a:pt x="797306" y="155194"/>
                  </a:lnTo>
                  <a:cubicBezTo>
                    <a:pt x="797306" y="76454"/>
                    <a:pt x="733552" y="12700"/>
                    <a:pt x="654812" y="12700"/>
                  </a:cubicBezTo>
                  <a:lnTo>
                    <a:pt x="155194" y="12700"/>
                  </a:lnTo>
                  <a:lnTo>
                    <a:pt x="155194" y="6350"/>
                  </a:lnTo>
                  <a:lnTo>
                    <a:pt x="155194" y="12700"/>
                  </a:lnTo>
                  <a:cubicBezTo>
                    <a:pt x="76454" y="12700"/>
                    <a:pt x="12700" y="76454"/>
                    <a:pt x="12700" y="15519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577311" y="3601793"/>
            <a:ext cx="398707" cy="4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31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24805" y="3566960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Sim-to-Real Transfer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24805" y="4202906"/>
            <a:ext cx="7042394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Domain randomization and hardware-in-the-loop testing on physical quadruped platforms.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72908" y="5577478"/>
            <a:ext cx="607514" cy="607514"/>
            <a:chOff x="0" y="0"/>
            <a:chExt cx="810019" cy="8100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797306" cy="797306"/>
            </a:xfrm>
            <a:custGeom>
              <a:avLst/>
              <a:gdLst/>
              <a:ahLst/>
              <a:cxnLst/>
              <a:rect r="r" b="b" t="t" l="l"/>
              <a:pathLst>
                <a:path h="797306" w="797306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648462" y="0"/>
                  </a:lnTo>
                  <a:cubicBezTo>
                    <a:pt x="730631" y="0"/>
                    <a:pt x="797306" y="66675"/>
                    <a:pt x="797306" y="148844"/>
                  </a:cubicBezTo>
                  <a:lnTo>
                    <a:pt x="797306" y="648462"/>
                  </a:lnTo>
                  <a:cubicBezTo>
                    <a:pt x="797306" y="730631"/>
                    <a:pt x="730631" y="797306"/>
                    <a:pt x="648462" y="797306"/>
                  </a:cubicBezTo>
                  <a:lnTo>
                    <a:pt x="148844" y="797306"/>
                  </a:lnTo>
                  <a:cubicBezTo>
                    <a:pt x="66675" y="797306"/>
                    <a:pt x="0" y="730631"/>
                    <a:pt x="0" y="648462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0006" cy="810006"/>
            </a:xfrm>
            <a:custGeom>
              <a:avLst/>
              <a:gdLst/>
              <a:ahLst/>
              <a:cxnLst/>
              <a:rect r="r" b="b" t="t" l="l"/>
              <a:pathLst>
                <a:path h="810006" w="810006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654812" y="0"/>
                  </a:lnTo>
                  <a:lnTo>
                    <a:pt x="654812" y="6350"/>
                  </a:lnTo>
                  <a:lnTo>
                    <a:pt x="654812" y="0"/>
                  </a:lnTo>
                  <a:cubicBezTo>
                    <a:pt x="740537" y="0"/>
                    <a:pt x="810006" y="69469"/>
                    <a:pt x="810006" y="155194"/>
                  </a:cubicBezTo>
                  <a:lnTo>
                    <a:pt x="803656" y="155194"/>
                  </a:lnTo>
                  <a:lnTo>
                    <a:pt x="810006" y="155194"/>
                  </a:lnTo>
                  <a:lnTo>
                    <a:pt x="810006" y="654812"/>
                  </a:lnTo>
                  <a:lnTo>
                    <a:pt x="803656" y="654812"/>
                  </a:lnTo>
                  <a:lnTo>
                    <a:pt x="810006" y="654812"/>
                  </a:lnTo>
                  <a:cubicBezTo>
                    <a:pt x="810006" y="740537"/>
                    <a:pt x="740537" y="810006"/>
                    <a:pt x="654812" y="810006"/>
                  </a:cubicBezTo>
                  <a:lnTo>
                    <a:pt x="654812" y="803656"/>
                  </a:lnTo>
                  <a:lnTo>
                    <a:pt x="654812" y="810006"/>
                  </a:lnTo>
                  <a:lnTo>
                    <a:pt x="155194" y="810006"/>
                  </a:lnTo>
                  <a:lnTo>
                    <a:pt x="155194" y="803656"/>
                  </a:lnTo>
                  <a:lnTo>
                    <a:pt x="155194" y="810006"/>
                  </a:lnTo>
                  <a:cubicBezTo>
                    <a:pt x="69469" y="810006"/>
                    <a:pt x="0" y="740537"/>
                    <a:pt x="0" y="654812"/>
                  </a:cubicBezTo>
                  <a:lnTo>
                    <a:pt x="0" y="155194"/>
                  </a:lnTo>
                  <a:lnTo>
                    <a:pt x="6350" y="155194"/>
                  </a:lnTo>
                  <a:lnTo>
                    <a:pt x="0" y="155194"/>
                  </a:lnTo>
                  <a:moveTo>
                    <a:pt x="12700" y="155194"/>
                  </a:moveTo>
                  <a:lnTo>
                    <a:pt x="12700" y="654812"/>
                  </a:lnTo>
                  <a:lnTo>
                    <a:pt x="6350" y="654812"/>
                  </a:lnTo>
                  <a:lnTo>
                    <a:pt x="12700" y="654812"/>
                  </a:lnTo>
                  <a:cubicBezTo>
                    <a:pt x="12700" y="733552"/>
                    <a:pt x="76454" y="797306"/>
                    <a:pt x="155194" y="797306"/>
                  </a:cubicBezTo>
                  <a:lnTo>
                    <a:pt x="654812" y="797306"/>
                  </a:lnTo>
                  <a:cubicBezTo>
                    <a:pt x="733552" y="797306"/>
                    <a:pt x="797306" y="733552"/>
                    <a:pt x="797306" y="654812"/>
                  </a:cubicBezTo>
                  <a:lnTo>
                    <a:pt x="797306" y="155194"/>
                  </a:lnTo>
                  <a:cubicBezTo>
                    <a:pt x="797306" y="76454"/>
                    <a:pt x="733552" y="12700"/>
                    <a:pt x="654812" y="12700"/>
                  </a:cubicBezTo>
                  <a:lnTo>
                    <a:pt x="155194" y="12700"/>
                  </a:lnTo>
                  <a:lnTo>
                    <a:pt x="155194" y="6350"/>
                  </a:lnTo>
                  <a:lnTo>
                    <a:pt x="155194" y="12700"/>
                  </a:lnTo>
                  <a:cubicBezTo>
                    <a:pt x="76454" y="12700"/>
                    <a:pt x="12700" y="76454"/>
                    <a:pt x="12700" y="15519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577311" y="5679729"/>
            <a:ext cx="398707" cy="4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31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24805" y="5644906"/>
            <a:ext cx="3686918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Multi-Agent Coordination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24805" y="6280842"/>
            <a:ext cx="7042394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Extend GNN to model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inter-robot communication graphs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for emergent swarm locomotion.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72908" y="7655423"/>
            <a:ext cx="607514" cy="607514"/>
            <a:chOff x="0" y="0"/>
            <a:chExt cx="810019" cy="8100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797306" cy="797306"/>
            </a:xfrm>
            <a:custGeom>
              <a:avLst/>
              <a:gdLst/>
              <a:ahLst/>
              <a:cxnLst/>
              <a:rect r="r" b="b" t="t" l="l"/>
              <a:pathLst>
                <a:path h="797306" w="797306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648462" y="0"/>
                  </a:lnTo>
                  <a:cubicBezTo>
                    <a:pt x="730631" y="0"/>
                    <a:pt x="797306" y="66675"/>
                    <a:pt x="797306" y="148844"/>
                  </a:cubicBezTo>
                  <a:lnTo>
                    <a:pt x="797306" y="648462"/>
                  </a:lnTo>
                  <a:cubicBezTo>
                    <a:pt x="797306" y="730631"/>
                    <a:pt x="730631" y="797306"/>
                    <a:pt x="648462" y="797306"/>
                  </a:cubicBezTo>
                  <a:lnTo>
                    <a:pt x="148844" y="797306"/>
                  </a:lnTo>
                  <a:cubicBezTo>
                    <a:pt x="66675" y="797306"/>
                    <a:pt x="0" y="730631"/>
                    <a:pt x="0" y="648462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0006" cy="810006"/>
            </a:xfrm>
            <a:custGeom>
              <a:avLst/>
              <a:gdLst/>
              <a:ahLst/>
              <a:cxnLst/>
              <a:rect r="r" b="b" t="t" l="l"/>
              <a:pathLst>
                <a:path h="810006" w="810006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654812" y="0"/>
                  </a:lnTo>
                  <a:lnTo>
                    <a:pt x="654812" y="6350"/>
                  </a:lnTo>
                  <a:lnTo>
                    <a:pt x="654812" y="0"/>
                  </a:lnTo>
                  <a:cubicBezTo>
                    <a:pt x="740537" y="0"/>
                    <a:pt x="810006" y="69469"/>
                    <a:pt x="810006" y="155194"/>
                  </a:cubicBezTo>
                  <a:lnTo>
                    <a:pt x="803656" y="155194"/>
                  </a:lnTo>
                  <a:lnTo>
                    <a:pt x="810006" y="155194"/>
                  </a:lnTo>
                  <a:lnTo>
                    <a:pt x="810006" y="654812"/>
                  </a:lnTo>
                  <a:lnTo>
                    <a:pt x="803656" y="654812"/>
                  </a:lnTo>
                  <a:lnTo>
                    <a:pt x="810006" y="654812"/>
                  </a:lnTo>
                  <a:cubicBezTo>
                    <a:pt x="810006" y="740537"/>
                    <a:pt x="740537" y="810006"/>
                    <a:pt x="654812" y="810006"/>
                  </a:cubicBezTo>
                  <a:lnTo>
                    <a:pt x="654812" y="803656"/>
                  </a:lnTo>
                  <a:lnTo>
                    <a:pt x="654812" y="810006"/>
                  </a:lnTo>
                  <a:lnTo>
                    <a:pt x="155194" y="810006"/>
                  </a:lnTo>
                  <a:lnTo>
                    <a:pt x="155194" y="803656"/>
                  </a:lnTo>
                  <a:lnTo>
                    <a:pt x="155194" y="810006"/>
                  </a:lnTo>
                  <a:cubicBezTo>
                    <a:pt x="69469" y="810006"/>
                    <a:pt x="0" y="740537"/>
                    <a:pt x="0" y="654812"/>
                  </a:cubicBezTo>
                  <a:lnTo>
                    <a:pt x="0" y="155194"/>
                  </a:lnTo>
                  <a:lnTo>
                    <a:pt x="6350" y="155194"/>
                  </a:lnTo>
                  <a:lnTo>
                    <a:pt x="0" y="155194"/>
                  </a:lnTo>
                  <a:moveTo>
                    <a:pt x="12700" y="155194"/>
                  </a:moveTo>
                  <a:lnTo>
                    <a:pt x="12700" y="654812"/>
                  </a:lnTo>
                  <a:lnTo>
                    <a:pt x="6350" y="654812"/>
                  </a:lnTo>
                  <a:lnTo>
                    <a:pt x="12700" y="654812"/>
                  </a:lnTo>
                  <a:cubicBezTo>
                    <a:pt x="12700" y="733552"/>
                    <a:pt x="76454" y="797306"/>
                    <a:pt x="155194" y="797306"/>
                  </a:cubicBezTo>
                  <a:lnTo>
                    <a:pt x="654812" y="797306"/>
                  </a:lnTo>
                  <a:cubicBezTo>
                    <a:pt x="733552" y="797306"/>
                    <a:pt x="797306" y="733552"/>
                    <a:pt x="797306" y="654812"/>
                  </a:cubicBezTo>
                  <a:lnTo>
                    <a:pt x="797306" y="155194"/>
                  </a:lnTo>
                  <a:cubicBezTo>
                    <a:pt x="797306" y="76454"/>
                    <a:pt x="733552" y="12700"/>
                    <a:pt x="654812" y="12700"/>
                  </a:cubicBezTo>
                  <a:lnTo>
                    <a:pt x="155194" y="12700"/>
                  </a:lnTo>
                  <a:lnTo>
                    <a:pt x="155194" y="6350"/>
                  </a:lnTo>
                  <a:lnTo>
                    <a:pt x="155194" y="12700"/>
                  </a:lnTo>
                  <a:cubicBezTo>
                    <a:pt x="76454" y="12700"/>
                    <a:pt x="12700" y="76454"/>
                    <a:pt x="12700" y="155194"/>
                  </a:cubicBezTo>
                  <a:close/>
                </a:path>
              </a:pathLst>
            </a:custGeom>
            <a:solidFill>
              <a:srgbClr val="D1C8C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577311" y="7757665"/>
            <a:ext cx="398707" cy="4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3125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24805" y="7722841"/>
            <a:ext cx="3322587" cy="443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Adaptive Morphology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24805" y="8358778"/>
            <a:ext cx="7042394" cy="88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Enable online graph restructuring for </a:t>
            </a:r>
            <a:r>
              <a:rPr lang="en-US" sz="2062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modular, reconfigurable robots</a:t>
            </a:r>
            <a:r>
              <a:rPr lang="en-US" sz="2062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201900" y="9457463"/>
            <a:ext cx="3086100" cy="743812"/>
            <a:chOff x="0" y="0"/>
            <a:chExt cx="812800" cy="19590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195901"/>
            </a:xfrm>
            <a:custGeom>
              <a:avLst/>
              <a:gdLst/>
              <a:ahLst/>
              <a:cxnLst/>
              <a:rect r="r" b="b" t="t" l="l"/>
              <a:pathLst>
                <a:path h="1959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95901"/>
                  </a:lnTo>
                  <a:lnTo>
                    <a:pt x="0" y="195901"/>
                  </a:lnTo>
                  <a:close/>
                </a:path>
              </a:pathLst>
            </a:custGeom>
            <a:solidFill>
              <a:srgbClr val="FFFCFA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12800" cy="25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12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DAHHYMDgTTE</dc:identifier>
  <dcterms:modified xsi:type="dcterms:W3CDTF">2011-08-01T06:04:30Z</dcterms:modified>
  <cp:revision>1</cp:revision>
  <dc:title>Chaitanya Parate · PRN: 1032230750</dc:title>
</cp:coreProperties>
</file>